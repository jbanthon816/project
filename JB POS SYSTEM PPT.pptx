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Guerrilla" charset="1" panose="00000500000000000000"/>
      <p:regular r:id="rId23"/>
    </p:embeddedFont>
    <p:embeddedFont>
      <p:font typeface="Tufuli Arabic"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202117" y="1028700"/>
            <a:ext cx="4324076" cy="5641284"/>
          </a:xfrm>
          <a:custGeom>
            <a:avLst/>
            <a:gdLst/>
            <a:ahLst/>
            <a:cxnLst/>
            <a:rect r="r" b="b" t="t" l="l"/>
            <a:pathLst>
              <a:path h="5641284" w="4324076">
                <a:moveTo>
                  <a:pt x="0" y="0"/>
                </a:moveTo>
                <a:lnTo>
                  <a:pt x="4324075" y="0"/>
                </a:lnTo>
                <a:lnTo>
                  <a:pt x="4324075" y="5641284"/>
                </a:lnTo>
                <a:lnTo>
                  <a:pt x="0" y="5641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4215" y="1294057"/>
            <a:ext cx="9706296" cy="5456949"/>
          </a:xfrm>
          <a:custGeom>
            <a:avLst/>
            <a:gdLst/>
            <a:ahLst/>
            <a:cxnLst/>
            <a:rect r="r" b="b" t="t" l="l"/>
            <a:pathLst>
              <a:path h="5456949" w="9706296">
                <a:moveTo>
                  <a:pt x="0" y="0"/>
                </a:moveTo>
                <a:lnTo>
                  <a:pt x="9706296" y="0"/>
                </a:lnTo>
                <a:lnTo>
                  <a:pt x="9706296" y="5456949"/>
                </a:lnTo>
                <a:lnTo>
                  <a:pt x="0" y="54569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64215" y="7358932"/>
            <a:ext cx="2496369" cy="2316218"/>
          </a:xfrm>
          <a:custGeom>
            <a:avLst/>
            <a:gdLst/>
            <a:ahLst/>
            <a:cxnLst/>
            <a:rect r="r" b="b" t="t" l="l"/>
            <a:pathLst>
              <a:path h="2316218" w="2496369">
                <a:moveTo>
                  <a:pt x="0" y="0"/>
                </a:moveTo>
                <a:lnTo>
                  <a:pt x="2496369" y="0"/>
                </a:lnTo>
                <a:lnTo>
                  <a:pt x="2496369" y="2316218"/>
                </a:lnTo>
                <a:lnTo>
                  <a:pt x="0" y="231621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052032" y="7358932"/>
            <a:ext cx="2900520" cy="2184342"/>
          </a:xfrm>
          <a:custGeom>
            <a:avLst/>
            <a:gdLst/>
            <a:ahLst/>
            <a:cxnLst/>
            <a:rect r="r" b="b" t="t" l="l"/>
            <a:pathLst>
              <a:path h="2184342" w="2900520">
                <a:moveTo>
                  <a:pt x="0" y="0"/>
                </a:moveTo>
                <a:lnTo>
                  <a:pt x="2900520" y="0"/>
                </a:lnTo>
                <a:lnTo>
                  <a:pt x="2900520" y="2184342"/>
                </a:lnTo>
                <a:lnTo>
                  <a:pt x="0" y="21843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10800000">
            <a:off x="8580620" y="7590494"/>
            <a:ext cx="9350471" cy="1853093"/>
          </a:xfrm>
          <a:custGeom>
            <a:avLst/>
            <a:gdLst/>
            <a:ahLst/>
            <a:cxnLst/>
            <a:rect r="r" b="b" t="t" l="l"/>
            <a:pathLst>
              <a:path h="1853093" w="9350471">
                <a:moveTo>
                  <a:pt x="0" y="0"/>
                </a:moveTo>
                <a:lnTo>
                  <a:pt x="9350471" y="0"/>
                </a:lnTo>
                <a:lnTo>
                  <a:pt x="9350471" y="1853094"/>
                </a:lnTo>
                <a:lnTo>
                  <a:pt x="0" y="18530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1758846">
            <a:off x="9184047" y="1433458"/>
            <a:ext cx="2421897" cy="797024"/>
          </a:xfrm>
          <a:custGeom>
            <a:avLst/>
            <a:gdLst/>
            <a:ahLst/>
            <a:cxnLst/>
            <a:rect r="r" b="b" t="t" l="l"/>
            <a:pathLst>
              <a:path h="797024" w="2421897">
                <a:moveTo>
                  <a:pt x="0" y="0"/>
                </a:moveTo>
                <a:lnTo>
                  <a:pt x="2421897" y="0"/>
                </a:lnTo>
                <a:lnTo>
                  <a:pt x="2421897" y="797024"/>
                </a:lnTo>
                <a:lnTo>
                  <a:pt x="0" y="79702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9195351">
            <a:off x="943833" y="5715181"/>
            <a:ext cx="2421897" cy="797024"/>
          </a:xfrm>
          <a:custGeom>
            <a:avLst/>
            <a:gdLst/>
            <a:ahLst/>
            <a:cxnLst/>
            <a:rect r="r" b="b" t="t" l="l"/>
            <a:pathLst>
              <a:path h="797024" w="2421897">
                <a:moveTo>
                  <a:pt x="0" y="0"/>
                </a:moveTo>
                <a:lnTo>
                  <a:pt x="2421897" y="0"/>
                </a:lnTo>
                <a:lnTo>
                  <a:pt x="2421897" y="797024"/>
                </a:lnTo>
                <a:lnTo>
                  <a:pt x="0" y="79702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1732474" y="1879595"/>
            <a:ext cx="8969777" cy="3393882"/>
          </a:xfrm>
          <a:prstGeom prst="rect">
            <a:avLst/>
          </a:prstGeom>
        </p:spPr>
        <p:txBody>
          <a:bodyPr anchor="t" rtlCol="false" tIns="0" lIns="0" bIns="0" rIns="0">
            <a:spAutoFit/>
          </a:bodyPr>
          <a:lstStyle/>
          <a:p>
            <a:pPr algn="ctr">
              <a:lnSpc>
                <a:spcPts val="8854"/>
              </a:lnSpc>
            </a:pPr>
            <a:r>
              <a:rPr lang="en-US" sz="7835">
                <a:solidFill>
                  <a:srgbClr val="0D4B5D"/>
                </a:solidFill>
                <a:latin typeface="Guerrilla"/>
                <a:ea typeface="Guerrilla"/>
                <a:cs typeface="Guerrilla"/>
                <a:sym typeface="Guerrilla"/>
              </a:rPr>
              <a:t>SNEAKERS &amp; APPAREL BUSINESS POS SYSTEM</a:t>
            </a:r>
          </a:p>
        </p:txBody>
      </p:sp>
      <p:sp>
        <p:nvSpPr>
          <p:cNvPr name="Freeform 11" id="11"/>
          <p:cNvSpPr/>
          <p:nvPr/>
        </p:nvSpPr>
        <p:spPr>
          <a:xfrm flipH="false" flipV="false" rot="-5795191">
            <a:off x="759645" y="725366"/>
            <a:ext cx="1209140" cy="1452025"/>
          </a:xfrm>
          <a:custGeom>
            <a:avLst/>
            <a:gdLst/>
            <a:ahLst/>
            <a:cxnLst/>
            <a:rect r="r" b="b" t="t" l="l"/>
            <a:pathLst>
              <a:path h="1452025" w="1209140">
                <a:moveTo>
                  <a:pt x="0" y="0"/>
                </a:moveTo>
                <a:lnTo>
                  <a:pt x="1209140" y="0"/>
                </a:lnTo>
                <a:lnTo>
                  <a:pt x="1209140" y="1452025"/>
                </a:lnTo>
                <a:lnTo>
                  <a:pt x="0" y="14520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1760749">
            <a:off x="15896618" y="5290908"/>
            <a:ext cx="1259148" cy="1512077"/>
          </a:xfrm>
          <a:custGeom>
            <a:avLst/>
            <a:gdLst/>
            <a:ahLst/>
            <a:cxnLst/>
            <a:rect r="r" b="b" t="t" l="l"/>
            <a:pathLst>
              <a:path h="1512077" w="1259148">
                <a:moveTo>
                  <a:pt x="0" y="0"/>
                </a:moveTo>
                <a:lnTo>
                  <a:pt x="1259148" y="0"/>
                </a:lnTo>
                <a:lnTo>
                  <a:pt x="1259148" y="1512077"/>
                </a:lnTo>
                <a:lnTo>
                  <a:pt x="0" y="15120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3" id="13"/>
          <p:cNvSpPr txBox="true"/>
          <p:nvPr/>
        </p:nvSpPr>
        <p:spPr>
          <a:xfrm rot="0">
            <a:off x="10394995" y="7832173"/>
            <a:ext cx="6310085" cy="618930"/>
          </a:xfrm>
          <a:prstGeom prst="rect">
            <a:avLst/>
          </a:prstGeom>
        </p:spPr>
        <p:txBody>
          <a:bodyPr anchor="t" rtlCol="false" tIns="0" lIns="0" bIns="0" rIns="0">
            <a:spAutoFit/>
          </a:bodyPr>
          <a:lstStyle/>
          <a:p>
            <a:pPr algn="ctr">
              <a:lnSpc>
                <a:spcPts val="4561"/>
              </a:lnSpc>
              <a:spcBef>
                <a:spcPct val="0"/>
              </a:spcBef>
            </a:pPr>
            <a:r>
              <a:rPr lang="en-US" sz="4037">
                <a:solidFill>
                  <a:srgbClr val="082C37"/>
                </a:solidFill>
                <a:latin typeface="Tufuli Arabic"/>
                <a:ea typeface="Tufuli Arabic"/>
                <a:cs typeface="Tufuli Arabic"/>
                <a:sym typeface="Tufuli Arabic"/>
              </a:rPr>
              <a:t>By: JB Anthony Bugsocan </a:t>
            </a:r>
          </a:p>
        </p:txBody>
      </p:sp>
      <p:sp>
        <p:nvSpPr>
          <p:cNvPr name="TextBox 14" id="14"/>
          <p:cNvSpPr txBox="true"/>
          <p:nvPr/>
        </p:nvSpPr>
        <p:spPr>
          <a:xfrm rot="0">
            <a:off x="9168984" y="8507516"/>
            <a:ext cx="8762107" cy="618930"/>
          </a:xfrm>
          <a:prstGeom prst="rect">
            <a:avLst/>
          </a:prstGeom>
        </p:spPr>
        <p:txBody>
          <a:bodyPr anchor="t" rtlCol="false" tIns="0" lIns="0" bIns="0" rIns="0">
            <a:spAutoFit/>
          </a:bodyPr>
          <a:lstStyle/>
          <a:p>
            <a:pPr algn="ctr">
              <a:lnSpc>
                <a:spcPts val="4561"/>
              </a:lnSpc>
              <a:spcBef>
                <a:spcPct val="0"/>
              </a:spcBef>
            </a:pPr>
            <a:r>
              <a:rPr lang="en-US" sz="4037">
                <a:solidFill>
                  <a:srgbClr val="082C37"/>
                </a:solidFill>
                <a:latin typeface="Tufuli Arabic"/>
                <a:ea typeface="Tufuli Arabic"/>
                <a:cs typeface="Tufuli Arabic"/>
                <a:sym typeface="Tufuli Arabic"/>
              </a:rPr>
              <a:t>Instructor: Engr. Julian Semblante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7754171" y="-82772"/>
            <a:ext cx="7392799" cy="10452544"/>
          </a:xfrm>
          <a:custGeom>
            <a:avLst/>
            <a:gdLst/>
            <a:ahLst/>
            <a:cxnLst/>
            <a:rect r="r" b="b" t="t" l="l"/>
            <a:pathLst>
              <a:path h="10452544" w="7392799">
                <a:moveTo>
                  <a:pt x="0" y="0"/>
                </a:moveTo>
                <a:lnTo>
                  <a:pt x="7392800" y="0"/>
                </a:lnTo>
                <a:lnTo>
                  <a:pt x="7392800" y="10452544"/>
                </a:lnTo>
                <a:lnTo>
                  <a:pt x="0" y="104525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91041"/>
            <a:ext cx="4026438" cy="4764350"/>
          </a:xfrm>
          <a:custGeom>
            <a:avLst/>
            <a:gdLst/>
            <a:ahLst/>
            <a:cxnLst/>
            <a:rect r="r" b="b" t="t" l="l"/>
            <a:pathLst>
              <a:path h="4764350" w="4026438">
                <a:moveTo>
                  <a:pt x="0" y="0"/>
                </a:moveTo>
                <a:lnTo>
                  <a:pt x="4026438" y="0"/>
                </a:lnTo>
                <a:lnTo>
                  <a:pt x="4026438" y="4764350"/>
                </a:lnTo>
                <a:lnTo>
                  <a:pt x="0" y="47643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412737">
            <a:off x="14303092" y="7682950"/>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1412737">
            <a:off x="5634018" y="1342978"/>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514268" y="2854831"/>
            <a:ext cx="9872606" cy="5469295"/>
          </a:xfrm>
          <a:prstGeom prst="rect">
            <a:avLst/>
          </a:prstGeom>
        </p:spPr>
        <p:txBody>
          <a:bodyPr anchor="t" rtlCol="false" tIns="0" lIns="0" bIns="0" rIns="0">
            <a:spAutoFit/>
          </a:bodyPr>
          <a:lstStyle/>
          <a:p>
            <a:pPr algn="ctr">
              <a:lnSpc>
                <a:spcPts val="4334"/>
              </a:lnSpc>
            </a:pPr>
            <a:r>
              <a:rPr lang="en-US" sz="3673" spc="77">
                <a:solidFill>
                  <a:srgbClr val="082C37"/>
                </a:solidFill>
                <a:latin typeface="Tufuli Arabic"/>
                <a:ea typeface="Tufuli Arabic"/>
                <a:cs typeface="Tufuli Arabic"/>
                <a:sym typeface="Tufuli Arabic"/>
              </a:rPr>
              <a:t>The JB SNEAKERS &amp; APPAREL POS System is a console-based Point of Sale and Inventory Management application developed in C#. </a:t>
            </a:r>
          </a:p>
          <a:p>
            <a:pPr algn="ctr">
              <a:lnSpc>
                <a:spcPts val="4334"/>
              </a:lnSpc>
            </a:pPr>
          </a:p>
          <a:p>
            <a:pPr algn="ctr">
              <a:lnSpc>
                <a:spcPts val="4334"/>
              </a:lnSpc>
            </a:pPr>
            <a:r>
              <a:rPr lang="en-US" sz="3673" spc="77">
                <a:solidFill>
                  <a:srgbClr val="082C37"/>
                </a:solidFill>
                <a:latin typeface="Tufuli Arabic"/>
                <a:ea typeface="Tufuli Arabic"/>
                <a:cs typeface="Tufuli Arabic"/>
                <a:sym typeface="Tufuli Arabic"/>
              </a:rPr>
              <a:t>It aims to help small retail stores efficiently manage their inventory, sales, and stock updates without needing expensive commercial POS software.</a:t>
            </a:r>
          </a:p>
          <a:p>
            <a:pPr algn="ctr">
              <a:lnSpc>
                <a:spcPts val="415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7754171" y="-82772"/>
            <a:ext cx="7392799" cy="10452544"/>
          </a:xfrm>
          <a:custGeom>
            <a:avLst/>
            <a:gdLst/>
            <a:ahLst/>
            <a:cxnLst/>
            <a:rect r="r" b="b" t="t" l="l"/>
            <a:pathLst>
              <a:path h="10452544" w="7392799">
                <a:moveTo>
                  <a:pt x="0" y="0"/>
                </a:moveTo>
                <a:lnTo>
                  <a:pt x="7392800" y="0"/>
                </a:lnTo>
                <a:lnTo>
                  <a:pt x="7392800" y="10452544"/>
                </a:lnTo>
                <a:lnTo>
                  <a:pt x="0" y="104525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91041"/>
            <a:ext cx="4026438" cy="4764350"/>
          </a:xfrm>
          <a:custGeom>
            <a:avLst/>
            <a:gdLst/>
            <a:ahLst/>
            <a:cxnLst/>
            <a:rect r="r" b="b" t="t" l="l"/>
            <a:pathLst>
              <a:path h="4764350" w="4026438">
                <a:moveTo>
                  <a:pt x="0" y="0"/>
                </a:moveTo>
                <a:lnTo>
                  <a:pt x="4026438" y="0"/>
                </a:lnTo>
                <a:lnTo>
                  <a:pt x="4026438" y="4764350"/>
                </a:lnTo>
                <a:lnTo>
                  <a:pt x="0" y="47643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412737">
            <a:off x="14303092" y="7682950"/>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1412737">
            <a:off x="5634018" y="1342978"/>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514268" y="2337223"/>
            <a:ext cx="9872606" cy="5848932"/>
          </a:xfrm>
          <a:prstGeom prst="rect">
            <a:avLst/>
          </a:prstGeom>
        </p:spPr>
        <p:txBody>
          <a:bodyPr anchor="t" rtlCol="false" tIns="0" lIns="0" bIns="0" rIns="0">
            <a:spAutoFit/>
          </a:bodyPr>
          <a:lstStyle/>
          <a:p>
            <a:pPr algn="ctr">
              <a:lnSpc>
                <a:spcPts val="4628"/>
              </a:lnSpc>
            </a:pPr>
            <a:r>
              <a:rPr lang="en-US" sz="3673" spc="77">
                <a:solidFill>
                  <a:srgbClr val="082C37"/>
                </a:solidFill>
                <a:latin typeface="Tufuli Arabic"/>
                <a:ea typeface="Tufuli Arabic"/>
                <a:cs typeface="Tufuli Arabic"/>
                <a:sym typeface="Tufuli Arabic"/>
              </a:rPr>
              <a:t>The system provides an interactive console interface with arrow-key navigation for smooth user experience. It allows authorized admins to add, edit, delete, and search products, handle categories dynamically, generate sales invoices, and automatically record inventory receipts. Each transaction and stock adjustment is logged with timestamps for accountability.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7754171" y="-82772"/>
            <a:ext cx="7392799" cy="10452544"/>
          </a:xfrm>
          <a:custGeom>
            <a:avLst/>
            <a:gdLst/>
            <a:ahLst/>
            <a:cxnLst/>
            <a:rect r="r" b="b" t="t" l="l"/>
            <a:pathLst>
              <a:path h="10452544" w="7392799">
                <a:moveTo>
                  <a:pt x="0" y="0"/>
                </a:moveTo>
                <a:lnTo>
                  <a:pt x="7392800" y="0"/>
                </a:lnTo>
                <a:lnTo>
                  <a:pt x="7392800" y="10452544"/>
                </a:lnTo>
                <a:lnTo>
                  <a:pt x="0" y="104525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91041"/>
            <a:ext cx="4026438" cy="4764350"/>
          </a:xfrm>
          <a:custGeom>
            <a:avLst/>
            <a:gdLst/>
            <a:ahLst/>
            <a:cxnLst/>
            <a:rect r="r" b="b" t="t" l="l"/>
            <a:pathLst>
              <a:path h="4764350" w="4026438">
                <a:moveTo>
                  <a:pt x="0" y="0"/>
                </a:moveTo>
                <a:lnTo>
                  <a:pt x="4026438" y="0"/>
                </a:lnTo>
                <a:lnTo>
                  <a:pt x="4026438" y="4764350"/>
                </a:lnTo>
                <a:lnTo>
                  <a:pt x="0" y="47643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412737">
            <a:off x="14303092" y="7682950"/>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1412737">
            <a:off x="5634018" y="1342978"/>
            <a:ext cx="3058156" cy="1006411"/>
          </a:xfrm>
          <a:custGeom>
            <a:avLst/>
            <a:gdLst/>
            <a:ahLst/>
            <a:cxnLst/>
            <a:rect r="r" b="b" t="t" l="l"/>
            <a:pathLst>
              <a:path h="1006411" w="3058156">
                <a:moveTo>
                  <a:pt x="0" y="0"/>
                </a:moveTo>
                <a:lnTo>
                  <a:pt x="3058156" y="0"/>
                </a:lnTo>
                <a:lnTo>
                  <a:pt x="3058156" y="1006411"/>
                </a:lnTo>
                <a:lnTo>
                  <a:pt x="0" y="10064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514268" y="3621341"/>
            <a:ext cx="9872606" cy="2362782"/>
          </a:xfrm>
          <a:prstGeom prst="rect">
            <a:avLst/>
          </a:prstGeom>
        </p:spPr>
        <p:txBody>
          <a:bodyPr anchor="t" rtlCol="false" tIns="0" lIns="0" bIns="0" rIns="0">
            <a:spAutoFit/>
          </a:bodyPr>
          <a:lstStyle/>
          <a:p>
            <a:pPr algn="ctr">
              <a:lnSpc>
                <a:spcPts val="4628"/>
              </a:lnSpc>
            </a:pPr>
            <a:r>
              <a:rPr lang="en-US" sz="3673" spc="77">
                <a:solidFill>
                  <a:srgbClr val="082C37"/>
                </a:solidFill>
                <a:latin typeface="Tufuli Arabic"/>
                <a:ea typeface="Tufuli Arabic"/>
                <a:cs typeface="Tufuli Arabic"/>
                <a:sym typeface="Tufuli Arabic"/>
              </a:rPr>
              <a:t>This project emphasizes reliability, accuracy, and automation for real-world store management needs, all within a simple text-based environment.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889073" y="3088723"/>
            <a:ext cx="10978196" cy="6172021"/>
          </a:xfrm>
          <a:custGeom>
            <a:avLst/>
            <a:gdLst/>
            <a:ahLst/>
            <a:cxnLst/>
            <a:rect r="r" b="b" t="t" l="l"/>
            <a:pathLst>
              <a:path h="6172021" w="10978196">
                <a:moveTo>
                  <a:pt x="0" y="0"/>
                </a:moveTo>
                <a:lnTo>
                  <a:pt x="10978196" y="0"/>
                </a:lnTo>
                <a:lnTo>
                  <a:pt x="10978196" y="6172021"/>
                </a:lnTo>
                <a:lnTo>
                  <a:pt x="0" y="6172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280998">
            <a:off x="14747508" y="6800211"/>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3087510">
            <a:off x="14747508" y="3932085"/>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717103">
            <a:off x="14747508" y="1045462"/>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152054">
            <a:off x="585943" y="5550161"/>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072630" y="880199"/>
            <a:ext cx="12258909" cy="1860554"/>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PROJECT OBJECTIVES:  </a:t>
            </a:r>
          </a:p>
          <a:p>
            <a:pPr algn="ctr">
              <a:lnSpc>
                <a:spcPts val="7290"/>
              </a:lnSpc>
            </a:pPr>
            <a:r>
              <a:rPr lang="en-US" sz="6451">
                <a:solidFill>
                  <a:srgbClr val="FFFFFF"/>
                </a:solidFill>
                <a:latin typeface="Guerrilla"/>
                <a:ea typeface="Guerrilla"/>
                <a:cs typeface="Guerrilla"/>
                <a:sym typeface="Guerrilla"/>
              </a:rPr>
              <a:t>FUNCTIONAL OBJECTIVES</a:t>
            </a:r>
          </a:p>
        </p:txBody>
      </p:sp>
      <p:sp>
        <p:nvSpPr>
          <p:cNvPr name="Freeform 9" id="9"/>
          <p:cNvSpPr/>
          <p:nvPr/>
        </p:nvSpPr>
        <p:spPr>
          <a:xfrm flipH="false" flipV="false" rot="-5152054">
            <a:off x="11506770" y="5550161"/>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2087407" y="3628640"/>
            <a:ext cx="10229355" cy="5468577"/>
          </a:xfrm>
          <a:prstGeom prst="rect">
            <a:avLst/>
          </a:prstGeom>
        </p:spPr>
        <p:txBody>
          <a:bodyPr anchor="t" rtlCol="false" tIns="0" lIns="0" bIns="0" rIns="0">
            <a:spAutoFit/>
          </a:bodyPr>
          <a:lstStyle/>
          <a:p>
            <a:pPr algn="ctr" marL="618120" indent="-309060" lvl="1">
              <a:lnSpc>
                <a:spcPts val="3950"/>
              </a:lnSpc>
              <a:buFont typeface="Arial"/>
              <a:buChar char="•"/>
            </a:pPr>
            <a:r>
              <a:rPr lang="en-US" sz="2862">
                <a:solidFill>
                  <a:srgbClr val="082C37"/>
                </a:solidFill>
                <a:latin typeface="Tufuli Arabic"/>
                <a:ea typeface="Tufuli Arabic"/>
                <a:cs typeface="Tufuli Arabic"/>
                <a:sym typeface="Tufuli Arabic"/>
              </a:rPr>
              <a:t>To create a fully functional console-based POS and Inventory Management System in C#.</a:t>
            </a:r>
          </a:p>
          <a:p>
            <a:pPr algn="ctr" marL="618120" indent="-309060" lvl="1">
              <a:lnSpc>
                <a:spcPts val="3950"/>
              </a:lnSpc>
              <a:buFont typeface="Arial"/>
              <a:buChar char="•"/>
            </a:pPr>
            <a:r>
              <a:rPr lang="en-US" sz="2862">
                <a:solidFill>
                  <a:srgbClr val="082C37"/>
                </a:solidFill>
                <a:latin typeface="Tufuli Arabic"/>
                <a:ea typeface="Tufuli Arabic"/>
                <a:cs typeface="Tufuli Arabic"/>
                <a:sym typeface="Tufuli Arabic"/>
              </a:rPr>
              <a:t>To implement an arrow-key-controlled user interface for intuitive navigation.</a:t>
            </a:r>
          </a:p>
          <a:p>
            <a:pPr algn="ctr" marL="618120" indent="-309060" lvl="1">
              <a:lnSpc>
                <a:spcPts val="3950"/>
              </a:lnSpc>
              <a:buFont typeface="Arial"/>
              <a:buChar char="•"/>
            </a:pPr>
            <a:r>
              <a:rPr lang="en-US" sz="2862">
                <a:solidFill>
                  <a:srgbClr val="082C37"/>
                </a:solidFill>
                <a:latin typeface="Tufuli Arabic"/>
                <a:ea typeface="Tufuli Arabic"/>
                <a:cs typeface="Tufuli Arabic"/>
                <a:sym typeface="Tufuli Arabic"/>
              </a:rPr>
              <a:t>To allow administrators to perform CRUD operations on products, customers, and suppliers.</a:t>
            </a:r>
          </a:p>
          <a:p>
            <a:pPr algn="ctr" marL="618120" indent="-309060" lvl="1">
              <a:lnSpc>
                <a:spcPts val="3950"/>
              </a:lnSpc>
              <a:buFont typeface="Arial"/>
              <a:buChar char="•"/>
            </a:pPr>
            <a:r>
              <a:rPr lang="en-US" sz="2862">
                <a:solidFill>
                  <a:srgbClr val="082C37"/>
                </a:solidFill>
                <a:latin typeface="Tufuli Arabic"/>
                <a:ea typeface="Tufuli Arabic"/>
                <a:cs typeface="Tufuli Arabic"/>
                <a:sym typeface="Tufuli Arabic"/>
              </a:rPr>
              <a:t>To generate printable Sales Invoices and Inventory Receipts automatically.</a:t>
            </a:r>
          </a:p>
          <a:p>
            <a:pPr algn="ctr" marL="618120" indent="-309060" lvl="1">
              <a:lnSpc>
                <a:spcPts val="3950"/>
              </a:lnSpc>
              <a:buFont typeface="Arial"/>
              <a:buChar char="•"/>
            </a:pPr>
            <a:r>
              <a:rPr lang="en-US" sz="2862">
                <a:solidFill>
                  <a:srgbClr val="082C37"/>
                </a:solidFill>
                <a:latin typeface="Tufuli Arabic"/>
                <a:ea typeface="Tufuli Arabic"/>
                <a:cs typeface="Tufuli Arabic"/>
                <a:sym typeface="Tufuli Arabic"/>
              </a:rPr>
              <a:t>To support dynamic category management through file-based data handling.</a:t>
            </a:r>
          </a:p>
          <a:p>
            <a:pPr algn="ctr">
              <a:lnSpc>
                <a:spcPts val="395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889073" y="3088723"/>
            <a:ext cx="10978196" cy="6172021"/>
          </a:xfrm>
          <a:custGeom>
            <a:avLst/>
            <a:gdLst/>
            <a:ahLst/>
            <a:cxnLst/>
            <a:rect r="r" b="b" t="t" l="l"/>
            <a:pathLst>
              <a:path h="6172021" w="10978196">
                <a:moveTo>
                  <a:pt x="0" y="0"/>
                </a:moveTo>
                <a:lnTo>
                  <a:pt x="10978196" y="0"/>
                </a:lnTo>
                <a:lnTo>
                  <a:pt x="10978196" y="6172021"/>
                </a:lnTo>
                <a:lnTo>
                  <a:pt x="0" y="6172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280998">
            <a:off x="14747508" y="6800211"/>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3087510">
            <a:off x="14747508" y="3932085"/>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717103">
            <a:off x="14747508" y="1045462"/>
            <a:ext cx="2313118" cy="2456014"/>
          </a:xfrm>
          <a:custGeom>
            <a:avLst/>
            <a:gdLst/>
            <a:ahLst/>
            <a:cxnLst/>
            <a:rect r="r" b="b" t="t" l="l"/>
            <a:pathLst>
              <a:path h="2456014" w="2313118">
                <a:moveTo>
                  <a:pt x="0" y="0"/>
                </a:moveTo>
                <a:lnTo>
                  <a:pt x="2313118" y="0"/>
                </a:lnTo>
                <a:lnTo>
                  <a:pt x="2313118" y="2456014"/>
                </a:lnTo>
                <a:lnTo>
                  <a:pt x="0" y="2456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5152054">
            <a:off x="585943" y="5550161"/>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072630" y="880199"/>
            <a:ext cx="12258909" cy="1860554"/>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PROJECT OBJECTIVES:  </a:t>
            </a:r>
          </a:p>
          <a:p>
            <a:pPr algn="ctr">
              <a:lnSpc>
                <a:spcPts val="7290"/>
              </a:lnSpc>
            </a:pPr>
            <a:r>
              <a:rPr lang="en-US" sz="6451">
                <a:solidFill>
                  <a:srgbClr val="FFFFFF"/>
                </a:solidFill>
                <a:latin typeface="Guerrilla"/>
                <a:ea typeface="Guerrilla"/>
                <a:cs typeface="Guerrilla"/>
                <a:sym typeface="Guerrilla"/>
              </a:rPr>
              <a:t>PERFORMANCE OBJECTIVES</a:t>
            </a:r>
          </a:p>
        </p:txBody>
      </p:sp>
      <p:sp>
        <p:nvSpPr>
          <p:cNvPr name="Freeform 9" id="9"/>
          <p:cNvSpPr/>
          <p:nvPr/>
        </p:nvSpPr>
        <p:spPr>
          <a:xfrm flipH="false" flipV="false" rot="-5152054">
            <a:off x="11506770" y="5550161"/>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2263493" y="4644309"/>
            <a:ext cx="10229355" cy="2908449"/>
          </a:xfrm>
          <a:prstGeom prst="rect">
            <a:avLst/>
          </a:prstGeom>
        </p:spPr>
        <p:txBody>
          <a:bodyPr anchor="t" rtlCol="false" tIns="0" lIns="0" bIns="0" rIns="0">
            <a:spAutoFit/>
          </a:bodyPr>
          <a:lstStyle/>
          <a:p>
            <a:pPr algn="ctr" marL="618120" indent="-309060" lvl="1">
              <a:lnSpc>
                <a:spcPts val="4609"/>
              </a:lnSpc>
              <a:buFont typeface="Arial"/>
              <a:buChar char="•"/>
            </a:pPr>
            <a:r>
              <a:rPr lang="en-US" sz="2862">
                <a:solidFill>
                  <a:srgbClr val="082C37"/>
                </a:solidFill>
                <a:latin typeface="Tufuli Arabic"/>
                <a:ea typeface="Tufuli Arabic"/>
                <a:cs typeface="Tufuli Arabic"/>
                <a:sym typeface="Tufuli Arabic"/>
              </a:rPr>
              <a:t>Ensure data persistence through text file handling.</a:t>
            </a:r>
          </a:p>
          <a:p>
            <a:pPr algn="ctr" marL="618120" indent="-309060" lvl="1">
              <a:lnSpc>
                <a:spcPts val="4609"/>
              </a:lnSpc>
              <a:buFont typeface="Arial"/>
              <a:buChar char="•"/>
            </a:pPr>
            <a:r>
              <a:rPr lang="en-US" sz="2862">
                <a:solidFill>
                  <a:srgbClr val="082C37"/>
                </a:solidFill>
                <a:latin typeface="Tufuli Arabic"/>
                <a:ea typeface="Tufuli Arabic"/>
                <a:cs typeface="Tufuli Arabic"/>
                <a:sym typeface="Tufuli Arabic"/>
              </a:rPr>
              <a:t>Ma</a:t>
            </a:r>
            <a:r>
              <a:rPr lang="en-US" sz="2862">
                <a:solidFill>
                  <a:srgbClr val="082C37"/>
                </a:solidFill>
                <a:latin typeface="Tufuli Arabic"/>
                <a:ea typeface="Tufuli Arabic"/>
                <a:cs typeface="Tufuli Arabic"/>
                <a:sym typeface="Tufuli Arabic"/>
              </a:rPr>
              <a:t>intain accurate tracking of all inventory changes with receipt generation.</a:t>
            </a:r>
          </a:p>
          <a:p>
            <a:pPr algn="ctr" marL="618120" indent="-309060" lvl="1">
              <a:lnSpc>
                <a:spcPts val="4609"/>
              </a:lnSpc>
              <a:buFont typeface="Arial"/>
              <a:buChar char="•"/>
            </a:pPr>
            <a:r>
              <a:rPr lang="en-US" sz="2862">
                <a:solidFill>
                  <a:srgbClr val="082C37"/>
                </a:solidFill>
                <a:latin typeface="Tufuli Arabic"/>
                <a:ea typeface="Tufuli Arabic"/>
                <a:cs typeface="Tufuli Arabic"/>
                <a:sym typeface="Tufuli Arabic"/>
              </a:rPr>
              <a:t>Provide fast and clear menu navigation using keyboard controls.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4707457" y="1637664"/>
            <a:ext cx="3354896" cy="4743426"/>
          </a:xfrm>
          <a:custGeom>
            <a:avLst/>
            <a:gdLst/>
            <a:ahLst/>
            <a:cxnLst/>
            <a:rect r="r" b="b" t="t" l="l"/>
            <a:pathLst>
              <a:path h="4743426" w="3354896">
                <a:moveTo>
                  <a:pt x="0" y="0"/>
                </a:moveTo>
                <a:lnTo>
                  <a:pt x="3354896" y="0"/>
                </a:lnTo>
                <a:lnTo>
                  <a:pt x="3354896" y="4743426"/>
                </a:lnTo>
                <a:lnTo>
                  <a:pt x="0" y="4743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0225647" y="1637664"/>
            <a:ext cx="3354896" cy="4743426"/>
          </a:xfrm>
          <a:custGeom>
            <a:avLst/>
            <a:gdLst/>
            <a:ahLst/>
            <a:cxnLst/>
            <a:rect r="r" b="b" t="t" l="l"/>
            <a:pathLst>
              <a:path h="4743426" w="3354896">
                <a:moveTo>
                  <a:pt x="0" y="0"/>
                </a:moveTo>
                <a:lnTo>
                  <a:pt x="3354896" y="0"/>
                </a:lnTo>
                <a:lnTo>
                  <a:pt x="3354896" y="4743426"/>
                </a:lnTo>
                <a:lnTo>
                  <a:pt x="0" y="4743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10225647" y="5394728"/>
            <a:ext cx="3354896" cy="4743426"/>
          </a:xfrm>
          <a:custGeom>
            <a:avLst/>
            <a:gdLst/>
            <a:ahLst/>
            <a:cxnLst/>
            <a:rect r="r" b="b" t="t" l="l"/>
            <a:pathLst>
              <a:path h="4743426" w="3354896">
                <a:moveTo>
                  <a:pt x="0" y="0"/>
                </a:moveTo>
                <a:lnTo>
                  <a:pt x="3354896" y="0"/>
                </a:lnTo>
                <a:lnTo>
                  <a:pt x="3354896" y="4743426"/>
                </a:lnTo>
                <a:lnTo>
                  <a:pt x="0" y="4743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4707457" y="5394728"/>
            <a:ext cx="3354896" cy="4743426"/>
          </a:xfrm>
          <a:custGeom>
            <a:avLst/>
            <a:gdLst/>
            <a:ahLst/>
            <a:cxnLst/>
            <a:rect r="r" b="b" t="t" l="l"/>
            <a:pathLst>
              <a:path h="4743426" w="3354896">
                <a:moveTo>
                  <a:pt x="0" y="0"/>
                </a:moveTo>
                <a:lnTo>
                  <a:pt x="3354896" y="0"/>
                </a:lnTo>
                <a:lnTo>
                  <a:pt x="3354896" y="4743426"/>
                </a:lnTo>
                <a:lnTo>
                  <a:pt x="0" y="4743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162895">
            <a:off x="2987195" y="3671731"/>
            <a:ext cx="2051994" cy="675293"/>
          </a:xfrm>
          <a:custGeom>
            <a:avLst/>
            <a:gdLst/>
            <a:ahLst/>
            <a:cxnLst/>
            <a:rect r="r" b="b" t="t" l="l"/>
            <a:pathLst>
              <a:path h="675293" w="2051994">
                <a:moveTo>
                  <a:pt x="0" y="0"/>
                </a:moveTo>
                <a:lnTo>
                  <a:pt x="2051994" y="0"/>
                </a:lnTo>
                <a:lnTo>
                  <a:pt x="2051994" y="675292"/>
                </a:lnTo>
                <a:lnTo>
                  <a:pt x="0" y="6752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162895">
            <a:off x="13248811" y="3671731"/>
            <a:ext cx="2051994" cy="675293"/>
          </a:xfrm>
          <a:custGeom>
            <a:avLst/>
            <a:gdLst/>
            <a:ahLst/>
            <a:cxnLst/>
            <a:rect r="r" b="b" t="t" l="l"/>
            <a:pathLst>
              <a:path h="675293" w="2051994">
                <a:moveTo>
                  <a:pt x="0" y="0"/>
                </a:moveTo>
                <a:lnTo>
                  <a:pt x="2051994" y="0"/>
                </a:lnTo>
                <a:lnTo>
                  <a:pt x="2051994" y="675292"/>
                </a:lnTo>
                <a:lnTo>
                  <a:pt x="0" y="6752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5162895">
            <a:off x="2987195" y="7428795"/>
            <a:ext cx="2051994" cy="675293"/>
          </a:xfrm>
          <a:custGeom>
            <a:avLst/>
            <a:gdLst/>
            <a:ahLst/>
            <a:cxnLst/>
            <a:rect r="r" b="b" t="t" l="l"/>
            <a:pathLst>
              <a:path h="675293" w="2051994">
                <a:moveTo>
                  <a:pt x="0" y="0"/>
                </a:moveTo>
                <a:lnTo>
                  <a:pt x="2051994" y="0"/>
                </a:lnTo>
                <a:lnTo>
                  <a:pt x="2051994" y="675292"/>
                </a:lnTo>
                <a:lnTo>
                  <a:pt x="0" y="6752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5162895">
            <a:off x="13248811" y="7428795"/>
            <a:ext cx="2051994" cy="675293"/>
          </a:xfrm>
          <a:custGeom>
            <a:avLst/>
            <a:gdLst/>
            <a:ahLst/>
            <a:cxnLst/>
            <a:rect r="r" b="b" t="t" l="l"/>
            <a:pathLst>
              <a:path h="675293" w="2051994">
                <a:moveTo>
                  <a:pt x="0" y="0"/>
                </a:moveTo>
                <a:lnTo>
                  <a:pt x="2051994" y="0"/>
                </a:lnTo>
                <a:lnTo>
                  <a:pt x="2051994" y="675292"/>
                </a:lnTo>
                <a:lnTo>
                  <a:pt x="0" y="6752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494061" y="6307606"/>
            <a:ext cx="2619657" cy="3136283"/>
          </a:xfrm>
          <a:custGeom>
            <a:avLst/>
            <a:gdLst/>
            <a:ahLst/>
            <a:cxnLst/>
            <a:rect r="r" b="b" t="t" l="l"/>
            <a:pathLst>
              <a:path h="3136283" w="2619657">
                <a:moveTo>
                  <a:pt x="0" y="0"/>
                </a:moveTo>
                <a:lnTo>
                  <a:pt x="2619657" y="0"/>
                </a:lnTo>
                <a:lnTo>
                  <a:pt x="2619657" y="3136283"/>
                </a:lnTo>
                <a:lnTo>
                  <a:pt x="0" y="3136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1591638">
            <a:off x="15105869" y="3163421"/>
            <a:ext cx="2619657" cy="3136283"/>
          </a:xfrm>
          <a:custGeom>
            <a:avLst/>
            <a:gdLst/>
            <a:ahLst/>
            <a:cxnLst/>
            <a:rect r="r" b="b" t="t" l="l"/>
            <a:pathLst>
              <a:path h="3136283" w="2619657">
                <a:moveTo>
                  <a:pt x="0" y="0"/>
                </a:moveTo>
                <a:lnTo>
                  <a:pt x="2619658" y="0"/>
                </a:lnTo>
                <a:lnTo>
                  <a:pt x="2619658" y="3136283"/>
                </a:lnTo>
                <a:lnTo>
                  <a:pt x="0" y="31362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4398453">
            <a:off x="1328025" y="3623888"/>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1677812">
            <a:off x="15818332" y="7718643"/>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10221230" y="6487014"/>
            <a:ext cx="3363730" cy="1892098"/>
          </a:xfrm>
          <a:custGeom>
            <a:avLst/>
            <a:gdLst/>
            <a:ahLst/>
            <a:cxnLst/>
            <a:rect r="r" b="b" t="t" l="l"/>
            <a:pathLst>
              <a:path h="1892098" w="3363730">
                <a:moveTo>
                  <a:pt x="0" y="0"/>
                </a:moveTo>
                <a:lnTo>
                  <a:pt x="3363730" y="0"/>
                </a:lnTo>
                <a:lnTo>
                  <a:pt x="3363730" y="1892098"/>
                </a:lnTo>
                <a:lnTo>
                  <a:pt x="0" y="1892098"/>
                </a:lnTo>
                <a:lnTo>
                  <a:pt x="0" y="0"/>
                </a:lnTo>
                <a:close/>
              </a:path>
            </a:pathLst>
          </a:custGeom>
          <a:blipFill>
            <a:blip r:embed="rId11"/>
            <a:stretch>
              <a:fillRect l="0" t="0" r="0" b="0"/>
            </a:stretch>
          </a:blipFill>
        </p:spPr>
      </p:sp>
      <p:sp>
        <p:nvSpPr>
          <p:cNvPr name="Freeform 16" id="16"/>
          <p:cNvSpPr/>
          <p:nvPr/>
        </p:nvSpPr>
        <p:spPr>
          <a:xfrm flipH="false" flipV="false" rot="0">
            <a:off x="4420743" y="7200156"/>
            <a:ext cx="4224814" cy="1532723"/>
          </a:xfrm>
          <a:custGeom>
            <a:avLst/>
            <a:gdLst/>
            <a:ahLst/>
            <a:cxnLst/>
            <a:rect r="r" b="b" t="t" l="l"/>
            <a:pathLst>
              <a:path h="1532723" w="4224814">
                <a:moveTo>
                  <a:pt x="0" y="0"/>
                </a:moveTo>
                <a:lnTo>
                  <a:pt x="4224814" y="0"/>
                </a:lnTo>
                <a:lnTo>
                  <a:pt x="4224814" y="1532723"/>
                </a:lnTo>
                <a:lnTo>
                  <a:pt x="0" y="1532723"/>
                </a:lnTo>
                <a:lnTo>
                  <a:pt x="0" y="0"/>
                </a:lnTo>
                <a:close/>
              </a:path>
            </a:pathLst>
          </a:custGeom>
          <a:blipFill>
            <a:blip r:embed="rId12"/>
            <a:stretch>
              <a:fillRect l="0" t="0" r="0" b="0"/>
            </a:stretch>
          </a:blipFill>
        </p:spPr>
      </p:sp>
      <p:sp>
        <p:nvSpPr>
          <p:cNvPr name="TextBox 17" id="17"/>
          <p:cNvSpPr txBox="true"/>
          <p:nvPr/>
        </p:nvSpPr>
        <p:spPr>
          <a:xfrm rot="0">
            <a:off x="1234421" y="863082"/>
            <a:ext cx="15819159"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TECHNOLOGIES AND TOOLS USED</a:t>
            </a:r>
          </a:p>
        </p:txBody>
      </p:sp>
      <p:sp>
        <p:nvSpPr>
          <p:cNvPr name="TextBox 18" id="18"/>
          <p:cNvSpPr txBox="true"/>
          <p:nvPr/>
        </p:nvSpPr>
        <p:spPr>
          <a:xfrm rot="0">
            <a:off x="4420743" y="3539117"/>
            <a:ext cx="3965113" cy="1192446"/>
          </a:xfrm>
          <a:prstGeom prst="rect">
            <a:avLst/>
          </a:prstGeom>
        </p:spPr>
        <p:txBody>
          <a:bodyPr anchor="t" rtlCol="false" tIns="0" lIns="0" bIns="0" rIns="0">
            <a:spAutoFit/>
          </a:bodyPr>
          <a:lstStyle/>
          <a:p>
            <a:pPr algn="ctr">
              <a:lnSpc>
                <a:spcPts val="4561"/>
              </a:lnSpc>
              <a:spcBef>
                <a:spcPct val="0"/>
              </a:spcBef>
            </a:pPr>
            <a:r>
              <a:rPr lang="en-US" sz="4037">
                <a:solidFill>
                  <a:srgbClr val="082C37"/>
                </a:solidFill>
                <a:latin typeface="Tufuli Arabic"/>
                <a:ea typeface="Tufuli Arabic"/>
                <a:cs typeface="Tufuli Arabic"/>
                <a:sym typeface="Tufuli Arabic"/>
              </a:rPr>
              <a:t>C# (LANGUAGE)</a:t>
            </a:r>
          </a:p>
        </p:txBody>
      </p:sp>
      <p:sp>
        <p:nvSpPr>
          <p:cNvPr name="TextBox 19" id="19"/>
          <p:cNvSpPr txBox="true"/>
          <p:nvPr/>
        </p:nvSpPr>
        <p:spPr>
          <a:xfrm rot="0">
            <a:off x="9920539" y="3539117"/>
            <a:ext cx="3965113" cy="1192446"/>
          </a:xfrm>
          <a:prstGeom prst="rect">
            <a:avLst/>
          </a:prstGeom>
        </p:spPr>
        <p:txBody>
          <a:bodyPr anchor="t" rtlCol="false" tIns="0" lIns="0" bIns="0" rIns="0">
            <a:spAutoFit/>
          </a:bodyPr>
          <a:lstStyle/>
          <a:p>
            <a:pPr algn="ctr">
              <a:lnSpc>
                <a:spcPts val="4561"/>
              </a:lnSpc>
            </a:pPr>
            <a:r>
              <a:rPr lang="en-US" sz="4037">
                <a:solidFill>
                  <a:srgbClr val="082C37"/>
                </a:solidFill>
                <a:latin typeface="Tufuli Arabic"/>
                <a:ea typeface="Tufuli Arabic"/>
                <a:cs typeface="Tufuli Arabic"/>
                <a:sym typeface="Tufuli Arabic"/>
              </a:rPr>
              <a:t>.NET</a:t>
            </a:r>
          </a:p>
          <a:p>
            <a:pPr algn="ctr">
              <a:lnSpc>
                <a:spcPts val="4561"/>
              </a:lnSpc>
              <a:spcBef>
                <a:spcPct val="0"/>
              </a:spcBef>
            </a:pPr>
            <a:r>
              <a:rPr lang="en-US" sz="4037">
                <a:solidFill>
                  <a:srgbClr val="082C37"/>
                </a:solidFill>
                <a:latin typeface="Tufuli Arabic"/>
                <a:ea typeface="Tufuli Arabic"/>
                <a:cs typeface="Tufuli Arabic"/>
                <a:sym typeface="Tufuli Arabic"/>
              </a:rPr>
              <a:t>(FRAMEWORK)</a:t>
            </a:r>
          </a:p>
        </p:txBody>
      </p:sp>
      <p:sp>
        <p:nvSpPr>
          <p:cNvPr name="TextBox 20" id="20"/>
          <p:cNvSpPr txBox="true"/>
          <p:nvPr/>
        </p:nvSpPr>
        <p:spPr>
          <a:xfrm rot="0">
            <a:off x="4420743" y="6581226"/>
            <a:ext cx="3965113" cy="618930"/>
          </a:xfrm>
          <a:prstGeom prst="rect">
            <a:avLst/>
          </a:prstGeom>
        </p:spPr>
        <p:txBody>
          <a:bodyPr anchor="t" rtlCol="false" tIns="0" lIns="0" bIns="0" rIns="0">
            <a:spAutoFit/>
          </a:bodyPr>
          <a:lstStyle/>
          <a:p>
            <a:pPr algn="ctr">
              <a:lnSpc>
                <a:spcPts val="4561"/>
              </a:lnSpc>
              <a:spcBef>
                <a:spcPct val="0"/>
              </a:spcBef>
            </a:pPr>
            <a:r>
              <a:rPr lang="en-US" sz="4037">
                <a:solidFill>
                  <a:srgbClr val="082C37"/>
                </a:solidFill>
                <a:latin typeface="Tufuli Arabic"/>
                <a:ea typeface="Tufuli Arabic"/>
                <a:cs typeface="Tufuli Arabic"/>
                <a:sym typeface="Tufuli Arabic"/>
              </a:rPr>
              <a:t>LIBRARIES</a:t>
            </a:r>
          </a:p>
        </p:txBody>
      </p:sp>
      <p:sp>
        <p:nvSpPr>
          <p:cNvPr name="TextBox 21" id="21"/>
          <p:cNvSpPr txBox="true"/>
          <p:nvPr/>
        </p:nvSpPr>
        <p:spPr>
          <a:xfrm rot="0">
            <a:off x="9902144" y="8499040"/>
            <a:ext cx="3965113" cy="618930"/>
          </a:xfrm>
          <a:prstGeom prst="rect">
            <a:avLst/>
          </a:prstGeom>
        </p:spPr>
        <p:txBody>
          <a:bodyPr anchor="t" rtlCol="false" tIns="0" lIns="0" bIns="0" rIns="0">
            <a:spAutoFit/>
          </a:bodyPr>
          <a:lstStyle/>
          <a:p>
            <a:pPr algn="ctr">
              <a:lnSpc>
                <a:spcPts val="4561"/>
              </a:lnSpc>
              <a:spcBef>
                <a:spcPct val="0"/>
              </a:spcBef>
            </a:pPr>
            <a:r>
              <a:rPr lang="en-US" sz="4037">
                <a:solidFill>
                  <a:srgbClr val="082C37"/>
                </a:solidFill>
                <a:latin typeface="Tufuli Arabic"/>
                <a:ea typeface="Tufuli Arabic"/>
                <a:cs typeface="Tufuli Arabic"/>
                <a:sym typeface="Tufuli Arabic"/>
              </a:rPr>
              <a:t>VISUAL STUDIO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303076" y="1076325"/>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FEATURES AND FUNCTIONALITIES</a:t>
            </a:r>
          </a:p>
        </p:txBody>
      </p:sp>
      <p:sp>
        <p:nvSpPr>
          <p:cNvPr name="Freeform 4" id="4"/>
          <p:cNvSpPr/>
          <p:nvPr/>
        </p:nvSpPr>
        <p:spPr>
          <a:xfrm flipH="false" flipV="false" rot="0">
            <a:off x="1028700" y="5467063"/>
            <a:ext cx="4703180" cy="932085"/>
          </a:xfrm>
          <a:custGeom>
            <a:avLst/>
            <a:gdLst/>
            <a:ahLst/>
            <a:cxnLst/>
            <a:rect r="r" b="b" t="t" l="l"/>
            <a:pathLst>
              <a:path h="932085" w="4703180">
                <a:moveTo>
                  <a:pt x="0" y="0"/>
                </a:moveTo>
                <a:lnTo>
                  <a:pt x="4703180" y="0"/>
                </a:lnTo>
                <a:lnTo>
                  <a:pt x="4703180" y="932084"/>
                </a:lnTo>
                <a:lnTo>
                  <a:pt x="0" y="932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3839653"/>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2459893"/>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777429" y="3934797"/>
            <a:ext cx="4319028" cy="5465990"/>
          </a:xfrm>
          <a:custGeom>
            <a:avLst/>
            <a:gdLst/>
            <a:ahLst/>
            <a:cxnLst/>
            <a:rect r="r" b="b" t="t" l="l"/>
            <a:pathLst>
              <a:path h="5465990" w="4319028">
                <a:moveTo>
                  <a:pt x="0" y="0"/>
                </a:moveTo>
                <a:lnTo>
                  <a:pt x="4319028" y="0"/>
                </a:lnTo>
                <a:lnTo>
                  <a:pt x="4319028" y="5465990"/>
                </a:lnTo>
                <a:lnTo>
                  <a:pt x="0" y="546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269055">
            <a:off x="15859994"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113795">
            <a:off x="12328565" y="2820041"/>
            <a:ext cx="1099981" cy="1320938"/>
          </a:xfrm>
          <a:custGeom>
            <a:avLst/>
            <a:gdLst/>
            <a:ahLst/>
            <a:cxnLst/>
            <a:rect r="r" b="b" t="t" l="l"/>
            <a:pathLst>
              <a:path h="1320938" w="1099981">
                <a:moveTo>
                  <a:pt x="0" y="0"/>
                </a:moveTo>
                <a:lnTo>
                  <a:pt x="1099981" y="0"/>
                </a:lnTo>
                <a:lnTo>
                  <a:pt x="1099981" y="1320937"/>
                </a:lnTo>
                <a:lnTo>
                  <a:pt x="0" y="13209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28700" y="7094472"/>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6048547" y="2459893"/>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6048547" y="3839653"/>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048547" y="5467063"/>
            <a:ext cx="4703180" cy="932085"/>
          </a:xfrm>
          <a:custGeom>
            <a:avLst/>
            <a:gdLst/>
            <a:ahLst/>
            <a:cxnLst/>
            <a:rect r="r" b="b" t="t" l="l"/>
            <a:pathLst>
              <a:path h="932085" w="4703180">
                <a:moveTo>
                  <a:pt x="0" y="0"/>
                </a:moveTo>
                <a:lnTo>
                  <a:pt x="4703180" y="0"/>
                </a:lnTo>
                <a:lnTo>
                  <a:pt x="4703180" y="932084"/>
                </a:lnTo>
                <a:lnTo>
                  <a:pt x="0" y="932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6048547" y="7094472"/>
            <a:ext cx="4703180" cy="932085"/>
          </a:xfrm>
          <a:custGeom>
            <a:avLst/>
            <a:gdLst/>
            <a:ahLst/>
            <a:cxnLst/>
            <a:rect r="r" b="b" t="t" l="l"/>
            <a:pathLst>
              <a:path h="932085" w="4703180">
                <a:moveTo>
                  <a:pt x="0" y="0"/>
                </a:moveTo>
                <a:lnTo>
                  <a:pt x="4703180" y="0"/>
                </a:lnTo>
                <a:lnTo>
                  <a:pt x="4703180" y="932085"/>
                </a:lnTo>
                <a:lnTo>
                  <a:pt x="0" y="932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193835" y="2685256"/>
            <a:ext cx="3981059" cy="462308"/>
          </a:xfrm>
          <a:prstGeom prst="rect">
            <a:avLst/>
          </a:prstGeom>
        </p:spPr>
        <p:txBody>
          <a:bodyPr anchor="t" rtlCol="false" tIns="0" lIns="0" bIns="0" rIns="0">
            <a:spAutoFit/>
          </a:bodyPr>
          <a:lstStyle/>
          <a:p>
            <a:pPr algn="ctr">
              <a:lnSpc>
                <a:spcPts val="3318"/>
              </a:lnSpc>
              <a:spcBef>
                <a:spcPct val="0"/>
              </a:spcBef>
            </a:pPr>
            <a:r>
              <a:rPr lang="en-US" sz="2936">
                <a:solidFill>
                  <a:srgbClr val="082C37"/>
                </a:solidFill>
                <a:latin typeface="Tufuli Arabic"/>
                <a:ea typeface="Tufuli Arabic"/>
                <a:cs typeface="Tufuli Arabic"/>
                <a:sym typeface="Tufuli Arabic"/>
              </a:rPr>
              <a:t>Admin Log in system</a:t>
            </a:r>
          </a:p>
        </p:txBody>
      </p:sp>
      <p:sp>
        <p:nvSpPr>
          <p:cNvPr name="TextBox 16" id="16"/>
          <p:cNvSpPr txBox="true"/>
          <p:nvPr/>
        </p:nvSpPr>
        <p:spPr>
          <a:xfrm rot="0">
            <a:off x="1108079" y="3866308"/>
            <a:ext cx="4168516" cy="859725"/>
          </a:xfrm>
          <a:prstGeom prst="rect">
            <a:avLst/>
          </a:prstGeom>
        </p:spPr>
        <p:txBody>
          <a:bodyPr anchor="t" rtlCol="false" tIns="0" lIns="0" bIns="0" rIns="0">
            <a:spAutoFit/>
          </a:bodyPr>
          <a:lstStyle/>
          <a:p>
            <a:pPr algn="ctr">
              <a:lnSpc>
                <a:spcPts val="3242"/>
              </a:lnSpc>
              <a:spcBef>
                <a:spcPct val="0"/>
              </a:spcBef>
            </a:pPr>
            <a:r>
              <a:rPr lang="en-US" sz="2869">
                <a:solidFill>
                  <a:srgbClr val="082C37"/>
                </a:solidFill>
                <a:latin typeface="Tufuli Arabic"/>
                <a:ea typeface="Tufuli Arabic"/>
                <a:cs typeface="Tufuli Arabic"/>
                <a:sym typeface="Tufuli Arabic"/>
              </a:rPr>
              <a:t>Product &amp; Inventory Management</a:t>
            </a:r>
          </a:p>
        </p:txBody>
      </p:sp>
      <p:sp>
        <p:nvSpPr>
          <p:cNvPr name="TextBox 17" id="17"/>
          <p:cNvSpPr txBox="true"/>
          <p:nvPr/>
        </p:nvSpPr>
        <p:spPr>
          <a:xfrm rot="0">
            <a:off x="1209781" y="5730364"/>
            <a:ext cx="3965113" cy="486937"/>
          </a:xfrm>
          <a:prstGeom prst="rect">
            <a:avLst/>
          </a:prstGeom>
        </p:spPr>
        <p:txBody>
          <a:bodyPr anchor="t" rtlCol="false" tIns="0" lIns="0" bIns="0" rIns="0">
            <a:spAutoFit/>
          </a:bodyPr>
          <a:lstStyle/>
          <a:p>
            <a:pPr algn="ctr">
              <a:lnSpc>
                <a:spcPts val="3502"/>
              </a:lnSpc>
              <a:spcBef>
                <a:spcPct val="0"/>
              </a:spcBef>
            </a:pPr>
            <a:r>
              <a:rPr lang="en-US" sz="3099">
                <a:solidFill>
                  <a:srgbClr val="082C37"/>
                </a:solidFill>
                <a:latin typeface="Tufuli Arabic"/>
                <a:ea typeface="Tufuli Arabic"/>
                <a:cs typeface="Tufuli Arabic"/>
                <a:sym typeface="Tufuli Arabic"/>
              </a:rPr>
              <a:t>Stock Adjustment</a:t>
            </a:r>
          </a:p>
        </p:txBody>
      </p:sp>
      <p:sp>
        <p:nvSpPr>
          <p:cNvPr name="TextBox 18" id="18"/>
          <p:cNvSpPr txBox="true"/>
          <p:nvPr/>
        </p:nvSpPr>
        <p:spPr>
          <a:xfrm rot="0">
            <a:off x="1295536" y="7140109"/>
            <a:ext cx="3981059" cy="831286"/>
          </a:xfrm>
          <a:prstGeom prst="rect">
            <a:avLst/>
          </a:prstGeom>
        </p:spPr>
        <p:txBody>
          <a:bodyPr anchor="t" rtlCol="false" tIns="0" lIns="0" bIns="0" rIns="0">
            <a:spAutoFit/>
          </a:bodyPr>
          <a:lstStyle/>
          <a:p>
            <a:pPr algn="ctr">
              <a:lnSpc>
                <a:spcPts val="3169"/>
              </a:lnSpc>
              <a:spcBef>
                <a:spcPct val="0"/>
              </a:spcBef>
            </a:pPr>
            <a:r>
              <a:rPr lang="en-US" sz="2804">
                <a:solidFill>
                  <a:srgbClr val="082C37"/>
                </a:solidFill>
                <a:latin typeface="Tufuli Arabic"/>
                <a:ea typeface="Tufuli Arabic"/>
                <a:cs typeface="Tufuli Arabic"/>
                <a:sym typeface="Tufuli Arabic"/>
              </a:rPr>
              <a:t>Receipt &amp; Invoice Generation</a:t>
            </a:r>
          </a:p>
        </p:txBody>
      </p:sp>
      <p:sp>
        <p:nvSpPr>
          <p:cNvPr name="TextBox 19" id="19"/>
          <p:cNvSpPr txBox="true"/>
          <p:nvPr/>
        </p:nvSpPr>
        <p:spPr>
          <a:xfrm rot="0">
            <a:off x="6276931" y="2589353"/>
            <a:ext cx="3965113" cy="802625"/>
          </a:xfrm>
          <a:prstGeom prst="rect">
            <a:avLst/>
          </a:prstGeom>
        </p:spPr>
        <p:txBody>
          <a:bodyPr anchor="t" rtlCol="false" tIns="0" lIns="0" bIns="0" rIns="0">
            <a:spAutoFit/>
          </a:bodyPr>
          <a:lstStyle/>
          <a:p>
            <a:pPr algn="ctr">
              <a:lnSpc>
                <a:spcPts val="3021"/>
              </a:lnSpc>
              <a:spcBef>
                <a:spcPct val="0"/>
              </a:spcBef>
            </a:pPr>
            <a:r>
              <a:rPr lang="en-US" sz="2674">
                <a:solidFill>
                  <a:srgbClr val="082C37"/>
                </a:solidFill>
                <a:latin typeface="Tufuli Arabic"/>
                <a:ea typeface="Tufuli Arabic"/>
                <a:cs typeface="Tufuli Arabic"/>
                <a:sym typeface="Tufuli Arabic"/>
              </a:rPr>
              <a:t>File Handling &amp; Data Persistence</a:t>
            </a:r>
          </a:p>
        </p:txBody>
      </p:sp>
      <p:sp>
        <p:nvSpPr>
          <p:cNvPr name="TextBox 20" id="20"/>
          <p:cNvSpPr txBox="true"/>
          <p:nvPr/>
        </p:nvSpPr>
        <p:spPr>
          <a:xfrm rot="0">
            <a:off x="6048547" y="3982528"/>
            <a:ext cx="4193497" cy="719422"/>
          </a:xfrm>
          <a:prstGeom prst="rect">
            <a:avLst/>
          </a:prstGeom>
        </p:spPr>
        <p:txBody>
          <a:bodyPr anchor="t" rtlCol="false" tIns="0" lIns="0" bIns="0" rIns="0">
            <a:spAutoFit/>
          </a:bodyPr>
          <a:lstStyle/>
          <a:p>
            <a:pPr algn="ctr">
              <a:lnSpc>
                <a:spcPts val="2737"/>
              </a:lnSpc>
              <a:spcBef>
                <a:spcPct val="0"/>
              </a:spcBef>
            </a:pPr>
            <a:r>
              <a:rPr lang="en-US" sz="2422">
                <a:solidFill>
                  <a:srgbClr val="082C37"/>
                </a:solidFill>
                <a:latin typeface="Tufuli Arabic"/>
                <a:ea typeface="Tufuli Arabic"/>
                <a:cs typeface="Tufuli Arabic"/>
                <a:sym typeface="Tufuli Arabic"/>
              </a:rPr>
              <a:t>Arrow-Key Controlled Menu System</a:t>
            </a:r>
          </a:p>
        </p:txBody>
      </p:sp>
      <p:sp>
        <p:nvSpPr>
          <p:cNvPr name="TextBox 21" id="21"/>
          <p:cNvSpPr txBox="true"/>
          <p:nvPr/>
        </p:nvSpPr>
        <p:spPr>
          <a:xfrm rot="0">
            <a:off x="6069548" y="5612105"/>
            <a:ext cx="4379879" cy="732980"/>
          </a:xfrm>
          <a:prstGeom prst="rect">
            <a:avLst/>
          </a:prstGeom>
        </p:spPr>
        <p:txBody>
          <a:bodyPr anchor="t" rtlCol="false" tIns="0" lIns="0" bIns="0" rIns="0">
            <a:spAutoFit/>
          </a:bodyPr>
          <a:lstStyle/>
          <a:p>
            <a:pPr algn="ctr">
              <a:lnSpc>
                <a:spcPts val="2789"/>
              </a:lnSpc>
              <a:spcBef>
                <a:spcPct val="0"/>
              </a:spcBef>
            </a:pPr>
            <a:r>
              <a:rPr lang="en-US" sz="2468">
                <a:solidFill>
                  <a:srgbClr val="082C37"/>
                </a:solidFill>
                <a:latin typeface="Tufuli Arabic"/>
                <a:ea typeface="Tufuli Arabic"/>
                <a:cs typeface="Tufuli Arabic"/>
                <a:sym typeface="Tufuli Arabic"/>
              </a:rPr>
              <a:t>Organized Categories System</a:t>
            </a:r>
          </a:p>
        </p:txBody>
      </p:sp>
      <p:sp>
        <p:nvSpPr>
          <p:cNvPr name="TextBox 22" id="22"/>
          <p:cNvSpPr txBox="true"/>
          <p:nvPr/>
        </p:nvSpPr>
        <p:spPr>
          <a:xfrm rot="0">
            <a:off x="5929926" y="7151622"/>
            <a:ext cx="4659122" cy="887009"/>
          </a:xfrm>
          <a:prstGeom prst="rect">
            <a:avLst/>
          </a:prstGeom>
        </p:spPr>
        <p:txBody>
          <a:bodyPr anchor="t" rtlCol="false" tIns="0" lIns="0" bIns="0" rIns="0">
            <a:spAutoFit/>
          </a:bodyPr>
          <a:lstStyle/>
          <a:p>
            <a:pPr algn="ctr">
              <a:lnSpc>
                <a:spcPts val="3383"/>
              </a:lnSpc>
              <a:spcBef>
                <a:spcPct val="0"/>
              </a:spcBef>
            </a:pPr>
            <a:r>
              <a:rPr lang="en-US" sz="2994">
                <a:solidFill>
                  <a:srgbClr val="082C37"/>
                </a:solidFill>
                <a:latin typeface="Tufuli Arabic"/>
                <a:ea typeface="Tufuli Arabic"/>
                <a:cs typeface="Tufuli Arabic"/>
                <a:sym typeface="Tufuli Arabic"/>
              </a:rPr>
              <a:t>Universal Back Navigation</a:t>
            </a:r>
          </a:p>
        </p:txBody>
      </p:sp>
      <p:sp>
        <p:nvSpPr>
          <p:cNvPr name="Freeform 23" id="23"/>
          <p:cNvSpPr/>
          <p:nvPr/>
        </p:nvSpPr>
        <p:spPr>
          <a:xfrm flipH="false" flipV="false" rot="0">
            <a:off x="3717957" y="8468703"/>
            <a:ext cx="4703180" cy="932085"/>
          </a:xfrm>
          <a:custGeom>
            <a:avLst/>
            <a:gdLst/>
            <a:ahLst/>
            <a:cxnLst/>
            <a:rect r="r" b="b" t="t" l="l"/>
            <a:pathLst>
              <a:path h="932085" w="4703180">
                <a:moveTo>
                  <a:pt x="0" y="0"/>
                </a:moveTo>
                <a:lnTo>
                  <a:pt x="4703181" y="0"/>
                </a:lnTo>
                <a:lnTo>
                  <a:pt x="4703181" y="932084"/>
                </a:lnTo>
                <a:lnTo>
                  <a:pt x="0" y="932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4221828" y="8599250"/>
            <a:ext cx="3416195" cy="801538"/>
          </a:xfrm>
          <a:prstGeom prst="rect">
            <a:avLst/>
          </a:prstGeom>
        </p:spPr>
        <p:txBody>
          <a:bodyPr anchor="t" rtlCol="false" tIns="0" lIns="0" bIns="0" rIns="0">
            <a:spAutoFit/>
          </a:bodyPr>
          <a:lstStyle/>
          <a:p>
            <a:pPr algn="ctr">
              <a:lnSpc>
                <a:spcPts val="3017"/>
              </a:lnSpc>
              <a:spcBef>
                <a:spcPct val="0"/>
              </a:spcBef>
            </a:pPr>
            <a:r>
              <a:rPr lang="en-US" sz="2670">
                <a:solidFill>
                  <a:srgbClr val="082C37"/>
                </a:solidFill>
                <a:latin typeface="Tufuli Arabic"/>
                <a:ea typeface="Tufuli Arabic"/>
                <a:cs typeface="Tufuli Arabic"/>
                <a:sym typeface="Tufuli Arabic"/>
              </a:rPr>
              <a:t>Structured &amp; Modular OOP Design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303076" y="1076325"/>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BENEFITS</a:t>
            </a:r>
          </a:p>
        </p:txBody>
      </p:sp>
      <p:sp>
        <p:nvSpPr>
          <p:cNvPr name="Freeform 4" id="4"/>
          <p:cNvSpPr/>
          <p:nvPr/>
        </p:nvSpPr>
        <p:spPr>
          <a:xfrm flipH="false" flipV="false" rot="0">
            <a:off x="1028700" y="546706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383965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245989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690529" y="3301756"/>
            <a:ext cx="4319028" cy="5465990"/>
          </a:xfrm>
          <a:custGeom>
            <a:avLst/>
            <a:gdLst/>
            <a:ahLst/>
            <a:cxnLst/>
            <a:rect r="r" b="b" t="t" l="l"/>
            <a:pathLst>
              <a:path h="5465990" w="4319028">
                <a:moveTo>
                  <a:pt x="0" y="0"/>
                </a:moveTo>
                <a:lnTo>
                  <a:pt x="4319028" y="0"/>
                </a:lnTo>
                <a:lnTo>
                  <a:pt x="4319028" y="5465990"/>
                </a:lnTo>
                <a:lnTo>
                  <a:pt x="0" y="546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269055">
            <a:off x="14595493"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113795">
            <a:off x="10140539"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28700" y="7094472"/>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568779" y="2577746"/>
            <a:ext cx="3986425" cy="880621"/>
          </a:xfrm>
          <a:prstGeom prst="rect">
            <a:avLst/>
          </a:prstGeom>
        </p:spPr>
        <p:txBody>
          <a:bodyPr anchor="t" rtlCol="false" tIns="0" lIns="0" bIns="0" rIns="0">
            <a:spAutoFit/>
          </a:bodyPr>
          <a:lstStyle/>
          <a:p>
            <a:pPr algn="ctr">
              <a:lnSpc>
                <a:spcPts val="3322"/>
              </a:lnSpc>
              <a:spcBef>
                <a:spcPct val="0"/>
              </a:spcBef>
            </a:pPr>
            <a:r>
              <a:rPr lang="en-US" sz="2940">
                <a:solidFill>
                  <a:srgbClr val="082C37"/>
                </a:solidFill>
                <a:latin typeface="Tufuli Arabic"/>
                <a:ea typeface="Tufuli Arabic"/>
                <a:cs typeface="Tufuli Arabic"/>
                <a:sym typeface="Tufuli Arabic"/>
              </a:rPr>
              <a:t>Efficient Inventory Managemen</a:t>
            </a:r>
          </a:p>
        </p:txBody>
      </p:sp>
      <p:sp>
        <p:nvSpPr>
          <p:cNvPr name="TextBox 12" id="12"/>
          <p:cNvSpPr txBox="true"/>
          <p:nvPr/>
        </p:nvSpPr>
        <p:spPr>
          <a:xfrm rot="0">
            <a:off x="1193835" y="3915580"/>
            <a:ext cx="4775634" cy="982163"/>
          </a:xfrm>
          <a:prstGeom prst="rect">
            <a:avLst/>
          </a:prstGeom>
        </p:spPr>
        <p:txBody>
          <a:bodyPr anchor="t" rtlCol="false" tIns="0" lIns="0" bIns="0" rIns="0">
            <a:spAutoFit/>
          </a:bodyPr>
          <a:lstStyle/>
          <a:p>
            <a:pPr algn="ctr">
              <a:lnSpc>
                <a:spcPts val="3714"/>
              </a:lnSpc>
              <a:spcBef>
                <a:spcPct val="0"/>
              </a:spcBef>
            </a:pPr>
            <a:r>
              <a:rPr lang="en-US" sz="3286">
                <a:solidFill>
                  <a:srgbClr val="082C37"/>
                </a:solidFill>
                <a:latin typeface="Tufuli Arabic"/>
                <a:ea typeface="Tufuli Arabic"/>
                <a:cs typeface="Tufuli Arabic"/>
                <a:sym typeface="Tufuli Arabic"/>
              </a:rPr>
              <a:t>Automated Receipts &amp; Invoices</a:t>
            </a:r>
          </a:p>
        </p:txBody>
      </p:sp>
      <p:sp>
        <p:nvSpPr>
          <p:cNvPr name="TextBox 13" id="13"/>
          <p:cNvSpPr txBox="true"/>
          <p:nvPr/>
        </p:nvSpPr>
        <p:spPr>
          <a:xfrm rot="0">
            <a:off x="1193835" y="5663836"/>
            <a:ext cx="5085020" cy="732305"/>
          </a:xfrm>
          <a:prstGeom prst="rect">
            <a:avLst/>
          </a:prstGeom>
        </p:spPr>
        <p:txBody>
          <a:bodyPr anchor="t" rtlCol="false" tIns="0" lIns="0" bIns="0" rIns="0">
            <a:spAutoFit/>
          </a:bodyPr>
          <a:lstStyle/>
          <a:p>
            <a:pPr algn="ctr">
              <a:lnSpc>
                <a:spcPts val="2787"/>
              </a:lnSpc>
              <a:spcBef>
                <a:spcPct val="0"/>
              </a:spcBef>
            </a:pPr>
            <a:r>
              <a:rPr lang="en-US" sz="2466">
                <a:solidFill>
                  <a:srgbClr val="082C37"/>
                </a:solidFill>
                <a:latin typeface="Tufuli Arabic"/>
                <a:ea typeface="Tufuli Arabic"/>
                <a:cs typeface="Tufuli Arabic"/>
                <a:sym typeface="Tufuli Arabic"/>
              </a:rPr>
              <a:t>Fast and Organized Navigation (Arrow-Key Controlled)</a:t>
            </a:r>
          </a:p>
        </p:txBody>
      </p:sp>
      <p:sp>
        <p:nvSpPr>
          <p:cNvPr name="TextBox 14" id="14"/>
          <p:cNvSpPr txBox="true"/>
          <p:nvPr/>
        </p:nvSpPr>
        <p:spPr>
          <a:xfrm rot="0">
            <a:off x="1381307" y="7227957"/>
            <a:ext cx="4361370" cy="849357"/>
          </a:xfrm>
          <a:prstGeom prst="rect">
            <a:avLst/>
          </a:prstGeom>
        </p:spPr>
        <p:txBody>
          <a:bodyPr anchor="t" rtlCol="false" tIns="0" lIns="0" bIns="0" rIns="0">
            <a:spAutoFit/>
          </a:bodyPr>
          <a:lstStyle/>
          <a:p>
            <a:pPr algn="ctr">
              <a:lnSpc>
                <a:spcPts val="3202"/>
              </a:lnSpc>
              <a:spcBef>
                <a:spcPct val="0"/>
              </a:spcBef>
            </a:pPr>
            <a:r>
              <a:rPr lang="en-US" sz="2833">
                <a:solidFill>
                  <a:srgbClr val="082C37"/>
                </a:solidFill>
                <a:latin typeface="Tufuli Arabic"/>
                <a:ea typeface="Tufuli Arabic"/>
                <a:cs typeface="Tufuli Arabic"/>
                <a:sym typeface="Tufuli Arabic"/>
              </a:rPr>
              <a:t>Secure Access with Admin Login</a:t>
            </a:r>
          </a:p>
        </p:txBody>
      </p:sp>
      <p:sp>
        <p:nvSpPr>
          <p:cNvPr name="Freeform 15" id="15"/>
          <p:cNvSpPr/>
          <p:nvPr/>
        </p:nvSpPr>
        <p:spPr>
          <a:xfrm flipH="false" flipV="false" rot="0">
            <a:off x="1028700" y="8572749"/>
            <a:ext cx="5728967" cy="1135377"/>
          </a:xfrm>
          <a:custGeom>
            <a:avLst/>
            <a:gdLst/>
            <a:ahLst/>
            <a:cxnLst/>
            <a:rect r="r" b="b" t="t" l="l"/>
            <a:pathLst>
              <a:path h="1135377" w="5728967">
                <a:moveTo>
                  <a:pt x="0" y="0"/>
                </a:moveTo>
                <a:lnTo>
                  <a:pt x="5728967" y="0"/>
                </a:lnTo>
                <a:lnTo>
                  <a:pt x="5728967" y="1135378"/>
                </a:lnTo>
                <a:lnTo>
                  <a:pt x="0" y="11353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280330" y="8896599"/>
            <a:ext cx="4912030" cy="510331"/>
          </a:xfrm>
          <a:prstGeom prst="rect">
            <a:avLst/>
          </a:prstGeom>
        </p:spPr>
        <p:txBody>
          <a:bodyPr anchor="t" rtlCol="false" tIns="0" lIns="0" bIns="0" rIns="0">
            <a:spAutoFit/>
          </a:bodyPr>
          <a:lstStyle/>
          <a:p>
            <a:pPr algn="ctr">
              <a:lnSpc>
                <a:spcPts val="3606"/>
              </a:lnSpc>
              <a:spcBef>
                <a:spcPct val="0"/>
              </a:spcBef>
            </a:pPr>
            <a:r>
              <a:rPr lang="en-US" sz="3191">
                <a:solidFill>
                  <a:srgbClr val="082C37"/>
                </a:solidFill>
                <a:latin typeface="Tufuli Arabic"/>
                <a:ea typeface="Tufuli Arabic"/>
                <a:cs typeface="Tufuli Arabic"/>
                <a:sym typeface="Tufuli Arabic"/>
              </a:rPr>
              <a:t>Offline &amp; Lightweight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303076" y="1076325"/>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APPLICATIONS</a:t>
            </a:r>
          </a:p>
        </p:txBody>
      </p:sp>
      <p:sp>
        <p:nvSpPr>
          <p:cNvPr name="Freeform 4" id="4"/>
          <p:cNvSpPr/>
          <p:nvPr/>
        </p:nvSpPr>
        <p:spPr>
          <a:xfrm flipH="false" flipV="false" rot="0">
            <a:off x="1028700" y="546706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383965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245989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690529" y="3301756"/>
            <a:ext cx="4319028" cy="5465990"/>
          </a:xfrm>
          <a:custGeom>
            <a:avLst/>
            <a:gdLst/>
            <a:ahLst/>
            <a:cxnLst/>
            <a:rect r="r" b="b" t="t" l="l"/>
            <a:pathLst>
              <a:path h="5465990" w="4319028">
                <a:moveTo>
                  <a:pt x="0" y="0"/>
                </a:moveTo>
                <a:lnTo>
                  <a:pt x="4319028" y="0"/>
                </a:lnTo>
                <a:lnTo>
                  <a:pt x="4319028" y="5465990"/>
                </a:lnTo>
                <a:lnTo>
                  <a:pt x="0" y="546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269055">
            <a:off x="14595493"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113795">
            <a:off x="10140539"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68779" y="2577746"/>
            <a:ext cx="3986425" cy="880621"/>
          </a:xfrm>
          <a:prstGeom prst="rect">
            <a:avLst/>
          </a:prstGeom>
        </p:spPr>
        <p:txBody>
          <a:bodyPr anchor="t" rtlCol="false" tIns="0" lIns="0" bIns="0" rIns="0">
            <a:spAutoFit/>
          </a:bodyPr>
          <a:lstStyle/>
          <a:p>
            <a:pPr algn="ctr">
              <a:lnSpc>
                <a:spcPts val="3322"/>
              </a:lnSpc>
              <a:spcBef>
                <a:spcPct val="0"/>
              </a:spcBef>
            </a:pPr>
            <a:r>
              <a:rPr lang="en-US" sz="2940">
                <a:solidFill>
                  <a:srgbClr val="082C37"/>
                </a:solidFill>
                <a:latin typeface="Tufuli Arabic"/>
                <a:ea typeface="Tufuli Arabic"/>
                <a:cs typeface="Tufuli Arabic"/>
                <a:sym typeface="Tufuli Arabic"/>
              </a:rPr>
              <a:t>SMALL BOUTIQUE &amp; ONLINE SELLERS</a:t>
            </a:r>
          </a:p>
        </p:txBody>
      </p:sp>
      <p:sp>
        <p:nvSpPr>
          <p:cNvPr name="TextBox 11" id="11"/>
          <p:cNvSpPr txBox="true"/>
          <p:nvPr/>
        </p:nvSpPr>
        <p:spPr>
          <a:xfrm rot="0">
            <a:off x="1348528" y="4140208"/>
            <a:ext cx="4775634" cy="515217"/>
          </a:xfrm>
          <a:prstGeom prst="rect">
            <a:avLst/>
          </a:prstGeom>
        </p:spPr>
        <p:txBody>
          <a:bodyPr anchor="t" rtlCol="false" tIns="0" lIns="0" bIns="0" rIns="0">
            <a:spAutoFit/>
          </a:bodyPr>
          <a:lstStyle/>
          <a:p>
            <a:pPr algn="ctr">
              <a:lnSpc>
                <a:spcPts val="3714"/>
              </a:lnSpc>
              <a:spcBef>
                <a:spcPct val="0"/>
              </a:spcBef>
            </a:pPr>
            <a:r>
              <a:rPr lang="en-US" sz="3286">
                <a:solidFill>
                  <a:srgbClr val="082C37"/>
                </a:solidFill>
                <a:latin typeface="Tufuli Arabic"/>
                <a:ea typeface="Tufuli Arabic"/>
                <a:cs typeface="Tufuli Arabic"/>
                <a:sym typeface="Tufuli Arabic"/>
              </a:rPr>
              <a:t>Small Retail Stores</a:t>
            </a:r>
          </a:p>
        </p:txBody>
      </p:sp>
      <p:sp>
        <p:nvSpPr>
          <p:cNvPr name="TextBox 12" id="12"/>
          <p:cNvSpPr txBox="true"/>
          <p:nvPr/>
        </p:nvSpPr>
        <p:spPr>
          <a:xfrm rot="0">
            <a:off x="803703" y="5798208"/>
            <a:ext cx="5865283" cy="448539"/>
          </a:xfrm>
          <a:prstGeom prst="rect">
            <a:avLst/>
          </a:prstGeom>
        </p:spPr>
        <p:txBody>
          <a:bodyPr anchor="t" rtlCol="false" tIns="0" lIns="0" bIns="0" rIns="0">
            <a:spAutoFit/>
          </a:bodyPr>
          <a:lstStyle/>
          <a:p>
            <a:pPr algn="ctr">
              <a:lnSpc>
                <a:spcPts val="3215"/>
              </a:lnSpc>
              <a:spcBef>
                <a:spcPct val="0"/>
              </a:spcBef>
            </a:pPr>
            <a:r>
              <a:rPr lang="en-US" sz="2845">
                <a:solidFill>
                  <a:srgbClr val="082C37"/>
                </a:solidFill>
                <a:latin typeface="Tufuli Arabic"/>
                <a:ea typeface="Tufuli Arabic"/>
                <a:cs typeface="Tufuli Arabic"/>
                <a:sym typeface="Tufuli Arabic"/>
              </a:rPr>
              <a:t>Kiosks and School Businesses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154758" y="2337279"/>
            <a:ext cx="7622099" cy="2677262"/>
          </a:xfrm>
          <a:custGeom>
            <a:avLst/>
            <a:gdLst/>
            <a:ahLst/>
            <a:cxnLst/>
            <a:rect r="r" b="b" t="t" l="l"/>
            <a:pathLst>
              <a:path h="2677262" w="7622099">
                <a:moveTo>
                  <a:pt x="0" y="0"/>
                </a:moveTo>
                <a:lnTo>
                  <a:pt x="7622100" y="0"/>
                </a:lnTo>
                <a:lnTo>
                  <a:pt x="7622100" y="2677262"/>
                </a:lnTo>
                <a:lnTo>
                  <a:pt x="0" y="2677262"/>
                </a:lnTo>
                <a:lnTo>
                  <a:pt x="0" y="0"/>
                </a:lnTo>
                <a:close/>
              </a:path>
            </a:pathLst>
          </a:custGeom>
          <a:blipFill>
            <a:blip r:embed="rId3"/>
            <a:stretch>
              <a:fillRect l="0" t="0" r="0" b="0"/>
            </a:stretch>
          </a:blipFill>
        </p:spPr>
      </p:sp>
      <p:sp>
        <p:nvSpPr>
          <p:cNvPr name="Freeform 4" id="4"/>
          <p:cNvSpPr/>
          <p:nvPr/>
        </p:nvSpPr>
        <p:spPr>
          <a:xfrm flipH="false" flipV="false" rot="0">
            <a:off x="1154758" y="6276652"/>
            <a:ext cx="7622099" cy="2610569"/>
          </a:xfrm>
          <a:custGeom>
            <a:avLst/>
            <a:gdLst/>
            <a:ahLst/>
            <a:cxnLst/>
            <a:rect r="r" b="b" t="t" l="l"/>
            <a:pathLst>
              <a:path h="2610569" w="7622099">
                <a:moveTo>
                  <a:pt x="0" y="0"/>
                </a:moveTo>
                <a:lnTo>
                  <a:pt x="7622100" y="0"/>
                </a:lnTo>
                <a:lnTo>
                  <a:pt x="7622100" y="2610569"/>
                </a:lnTo>
                <a:lnTo>
                  <a:pt x="0" y="2610569"/>
                </a:lnTo>
                <a:lnTo>
                  <a:pt x="0" y="0"/>
                </a:lnTo>
                <a:close/>
              </a:path>
            </a:pathLst>
          </a:custGeom>
          <a:blipFill>
            <a:blip r:embed="rId4"/>
            <a:stretch>
              <a:fillRect l="0" t="0" r="0" b="0"/>
            </a:stretch>
          </a:blipFill>
        </p:spPr>
      </p:sp>
      <p:sp>
        <p:nvSpPr>
          <p:cNvPr name="Freeform 5" id="5"/>
          <p:cNvSpPr/>
          <p:nvPr/>
        </p:nvSpPr>
        <p:spPr>
          <a:xfrm flipH="false" flipV="false" rot="0">
            <a:off x="10832549" y="2337279"/>
            <a:ext cx="5824774" cy="819654"/>
          </a:xfrm>
          <a:custGeom>
            <a:avLst/>
            <a:gdLst/>
            <a:ahLst/>
            <a:cxnLst/>
            <a:rect r="r" b="b" t="t" l="l"/>
            <a:pathLst>
              <a:path h="819654" w="5824774">
                <a:moveTo>
                  <a:pt x="0" y="0"/>
                </a:moveTo>
                <a:lnTo>
                  <a:pt x="5824774" y="0"/>
                </a:lnTo>
                <a:lnTo>
                  <a:pt x="5824774" y="819654"/>
                </a:lnTo>
                <a:lnTo>
                  <a:pt x="0" y="819654"/>
                </a:lnTo>
                <a:lnTo>
                  <a:pt x="0" y="0"/>
                </a:lnTo>
                <a:close/>
              </a:path>
            </a:pathLst>
          </a:custGeom>
          <a:blipFill>
            <a:blip r:embed="rId5"/>
            <a:stretch>
              <a:fillRect l="0" t="0" r="0" b="0"/>
            </a:stretch>
          </a:blipFill>
        </p:spPr>
      </p:sp>
      <p:sp>
        <p:nvSpPr>
          <p:cNvPr name="Freeform 6" id="6"/>
          <p:cNvSpPr/>
          <p:nvPr/>
        </p:nvSpPr>
        <p:spPr>
          <a:xfrm flipH="false" flipV="false" rot="0">
            <a:off x="10581132" y="6276652"/>
            <a:ext cx="7028192" cy="1396853"/>
          </a:xfrm>
          <a:custGeom>
            <a:avLst/>
            <a:gdLst/>
            <a:ahLst/>
            <a:cxnLst/>
            <a:rect r="r" b="b" t="t" l="l"/>
            <a:pathLst>
              <a:path h="1396853" w="7028192">
                <a:moveTo>
                  <a:pt x="0" y="0"/>
                </a:moveTo>
                <a:lnTo>
                  <a:pt x="7028192" y="0"/>
                </a:lnTo>
                <a:lnTo>
                  <a:pt x="7028192" y="1396853"/>
                </a:lnTo>
                <a:lnTo>
                  <a:pt x="0" y="1396853"/>
                </a:lnTo>
                <a:lnTo>
                  <a:pt x="0" y="0"/>
                </a:lnTo>
                <a:close/>
              </a:path>
            </a:pathLst>
          </a:custGeom>
          <a:blipFill>
            <a:blip r:embed="rId6"/>
            <a:stretch>
              <a:fillRect l="0" t="0" r="0" b="0"/>
            </a:stretch>
          </a:blipFill>
        </p:spPr>
      </p:sp>
      <p:sp>
        <p:nvSpPr>
          <p:cNvPr name="TextBox 7" id="7"/>
          <p:cNvSpPr txBox="true"/>
          <p:nvPr/>
        </p:nvSpPr>
        <p:spPr>
          <a:xfrm rot="0">
            <a:off x="2303076" y="724498"/>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IMPLEMENTING OF FILE HANDLING</a:t>
            </a:r>
          </a:p>
        </p:txBody>
      </p:sp>
      <p:sp>
        <p:nvSpPr>
          <p:cNvPr name="TextBox 8" id="8"/>
          <p:cNvSpPr txBox="true"/>
          <p:nvPr/>
        </p:nvSpPr>
        <p:spPr>
          <a:xfrm rot="0">
            <a:off x="344516" y="1842928"/>
            <a:ext cx="3374708" cy="320588"/>
          </a:xfrm>
          <a:prstGeom prst="rect">
            <a:avLst/>
          </a:prstGeom>
        </p:spPr>
        <p:txBody>
          <a:bodyPr anchor="t" rtlCol="false" tIns="0" lIns="0" bIns="0" rIns="0">
            <a:spAutoFit/>
          </a:bodyPr>
          <a:lstStyle/>
          <a:p>
            <a:pPr algn="ctr">
              <a:lnSpc>
                <a:spcPts val="2448"/>
              </a:lnSpc>
            </a:pPr>
            <a:r>
              <a:rPr lang="en-US" sz="2167">
                <a:solidFill>
                  <a:srgbClr val="FFFFFF"/>
                </a:solidFill>
                <a:latin typeface="Guerrilla"/>
                <a:ea typeface="Guerrilla"/>
                <a:cs typeface="Guerrilla"/>
                <a:sym typeface="Guerrilla"/>
              </a:rPr>
              <a:t>FILE CREATION</a:t>
            </a:r>
          </a:p>
        </p:txBody>
      </p:sp>
      <p:sp>
        <p:nvSpPr>
          <p:cNvPr name="TextBox 9" id="9"/>
          <p:cNvSpPr txBox="true"/>
          <p:nvPr/>
        </p:nvSpPr>
        <p:spPr>
          <a:xfrm rot="0">
            <a:off x="344516" y="5680345"/>
            <a:ext cx="3374708" cy="320588"/>
          </a:xfrm>
          <a:prstGeom prst="rect">
            <a:avLst/>
          </a:prstGeom>
        </p:spPr>
        <p:txBody>
          <a:bodyPr anchor="t" rtlCol="false" tIns="0" lIns="0" bIns="0" rIns="0">
            <a:spAutoFit/>
          </a:bodyPr>
          <a:lstStyle/>
          <a:p>
            <a:pPr algn="ctr">
              <a:lnSpc>
                <a:spcPts val="2448"/>
              </a:lnSpc>
            </a:pPr>
            <a:r>
              <a:rPr lang="en-US" sz="2167">
                <a:solidFill>
                  <a:srgbClr val="FFFFFF"/>
                </a:solidFill>
                <a:latin typeface="Guerrilla"/>
                <a:ea typeface="Guerrilla"/>
                <a:cs typeface="Guerrilla"/>
                <a:sym typeface="Guerrilla"/>
              </a:rPr>
              <a:t>FILE READING</a:t>
            </a:r>
          </a:p>
        </p:txBody>
      </p:sp>
      <p:sp>
        <p:nvSpPr>
          <p:cNvPr name="TextBox 10" id="10"/>
          <p:cNvSpPr txBox="true"/>
          <p:nvPr/>
        </p:nvSpPr>
        <p:spPr>
          <a:xfrm rot="0">
            <a:off x="10037626" y="1842928"/>
            <a:ext cx="3374708" cy="320588"/>
          </a:xfrm>
          <a:prstGeom prst="rect">
            <a:avLst/>
          </a:prstGeom>
        </p:spPr>
        <p:txBody>
          <a:bodyPr anchor="t" rtlCol="false" tIns="0" lIns="0" bIns="0" rIns="0">
            <a:spAutoFit/>
          </a:bodyPr>
          <a:lstStyle/>
          <a:p>
            <a:pPr algn="ctr">
              <a:lnSpc>
                <a:spcPts val="2448"/>
              </a:lnSpc>
            </a:pPr>
            <a:r>
              <a:rPr lang="en-US" sz="2167">
                <a:solidFill>
                  <a:srgbClr val="FFFFFF"/>
                </a:solidFill>
                <a:latin typeface="Guerrilla"/>
                <a:ea typeface="Guerrilla"/>
                <a:cs typeface="Guerrilla"/>
                <a:sym typeface="Guerrilla"/>
              </a:rPr>
              <a:t>FILE DELETION</a:t>
            </a:r>
          </a:p>
        </p:txBody>
      </p:sp>
      <p:sp>
        <p:nvSpPr>
          <p:cNvPr name="TextBox 11" id="11"/>
          <p:cNvSpPr txBox="true"/>
          <p:nvPr/>
        </p:nvSpPr>
        <p:spPr>
          <a:xfrm rot="0">
            <a:off x="10037626" y="5680345"/>
            <a:ext cx="3374708" cy="320588"/>
          </a:xfrm>
          <a:prstGeom prst="rect">
            <a:avLst/>
          </a:prstGeom>
        </p:spPr>
        <p:txBody>
          <a:bodyPr anchor="t" rtlCol="false" tIns="0" lIns="0" bIns="0" rIns="0">
            <a:spAutoFit/>
          </a:bodyPr>
          <a:lstStyle/>
          <a:p>
            <a:pPr algn="ctr">
              <a:lnSpc>
                <a:spcPts val="2448"/>
              </a:lnSpc>
            </a:pPr>
            <a:r>
              <a:rPr lang="en-US" sz="2167">
                <a:solidFill>
                  <a:srgbClr val="FFFFFF"/>
                </a:solidFill>
                <a:latin typeface="Guerrilla"/>
                <a:ea typeface="Guerrilla"/>
                <a:cs typeface="Guerrilla"/>
                <a:sym typeface="Guerrilla"/>
              </a:rPr>
              <a:t>FILE UPDATING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303076" y="827977"/>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CHALLENGES AND SOLUTIONS</a:t>
            </a:r>
          </a:p>
        </p:txBody>
      </p:sp>
      <p:sp>
        <p:nvSpPr>
          <p:cNvPr name="TextBox 4" id="4"/>
          <p:cNvSpPr txBox="true"/>
          <p:nvPr/>
        </p:nvSpPr>
        <p:spPr>
          <a:xfrm rot="0">
            <a:off x="1028700" y="2181530"/>
            <a:ext cx="9733701" cy="3467577"/>
          </a:xfrm>
          <a:prstGeom prst="rect">
            <a:avLst/>
          </a:prstGeom>
        </p:spPr>
        <p:txBody>
          <a:bodyPr anchor="t" rtlCol="false" tIns="0" lIns="0" bIns="0" rIns="0">
            <a:spAutoFit/>
          </a:bodyPr>
          <a:lstStyle/>
          <a:p>
            <a:pPr algn="l">
              <a:lnSpc>
                <a:spcPts val="2482"/>
              </a:lnSpc>
            </a:pPr>
            <a:r>
              <a:rPr lang="en-US" sz="2196">
                <a:solidFill>
                  <a:srgbClr val="FFFFFF"/>
                </a:solidFill>
                <a:latin typeface="Guerrilla"/>
                <a:ea typeface="Guerrilla"/>
                <a:cs typeface="Guerrilla"/>
                <a:sym typeface="Guerrilla"/>
              </a:rPr>
              <a:t>AVOIDING MENU ERRORS WHEN ADDING MANY FEATURES</a:t>
            </a:r>
          </a:p>
          <a:p>
            <a:pPr algn="l">
              <a:lnSpc>
                <a:spcPts val="2482"/>
              </a:lnSpc>
            </a:pPr>
          </a:p>
          <a:p>
            <a:pPr algn="l">
              <a:lnSpc>
                <a:spcPts val="2482"/>
              </a:lnSpc>
            </a:pPr>
            <a:r>
              <a:rPr lang="en-US" sz="2196">
                <a:solidFill>
                  <a:srgbClr val="FFFFFF"/>
                </a:solidFill>
                <a:latin typeface="Guerrilla"/>
                <a:ea typeface="Guerrilla"/>
                <a:cs typeface="Guerrilla"/>
                <a:sym typeface="Guerrilla"/>
              </a:rPr>
              <a:t>CHALLENGE:</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 EACH NEW FEATURE—SEARCH, DELETE, EDIT, ADJUST STOCK—ADDED MORE </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MENU OPTIONS, INCREASING THE CHANCE OF INPUT ERRORS.</a:t>
            </a:r>
          </a:p>
          <a:p>
            <a:pPr algn="l">
              <a:lnSpc>
                <a:spcPts val="2482"/>
              </a:lnSpc>
            </a:pPr>
          </a:p>
          <a:p>
            <a:pPr algn="l">
              <a:lnSpc>
                <a:spcPts val="2482"/>
              </a:lnSpc>
            </a:pPr>
            <a:r>
              <a:rPr lang="en-US" sz="2196">
                <a:solidFill>
                  <a:srgbClr val="FFFFFF"/>
                </a:solidFill>
                <a:latin typeface="Guerrilla"/>
                <a:ea typeface="Guerrilla"/>
                <a:cs typeface="Guerrilla"/>
                <a:sym typeface="Guerrilla"/>
              </a:rPr>
              <a:t>SOLUTION:</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 CREATED REUSABLE MENU FUNCTIONS AND CONSISTENT FORMATTING.</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 ALSO INTEGRATED A “BACK” OPTION IN EVERY SUBMENU, PREVENTING ERRORS AND IMPROVING NAVIGATION.</a:t>
            </a:r>
          </a:p>
          <a:p>
            <a:pPr algn="l">
              <a:lnSpc>
                <a:spcPts val="2482"/>
              </a:lnSpc>
            </a:pPr>
          </a:p>
        </p:txBody>
      </p:sp>
      <p:sp>
        <p:nvSpPr>
          <p:cNvPr name="TextBox 5" id="5"/>
          <p:cNvSpPr txBox="true"/>
          <p:nvPr/>
        </p:nvSpPr>
        <p:spPr>
          <a:xfrm rot="0">
            <a:off x="1028700" y="5658631"/>
            <a:ext cx="9733701" cy="4329582"/>
          </a:xfrm>
          <a:prstGeom prst="rect">
            <a:avLst/>
          </a:prstGeom>
        </p:spPr>
        <p:txBody>
          <a:bodyPr anchor="t" rtlCol="false" tIns="0" lIns="0" bIns="0" rIns="0">
            <a:spAutoFit/>
          </a:bodyPr>
          <a:lstStyle/>
          <a:p>
            <a:pPr algn="l">
              <a:lnSpc>
                <a:spcPts val="2482"/>
              </a:lnSpc>
            </a:pPr>
            <a:r>
              <a:rPr lang="en-US" sz="2196">
                <a:solidFill>
                  <a:srgbClr val="FFFFFF"/>
                </a:solidFill>
                <a:latin typeface="Guerrilla"/>
                <a:ea typeface="Guerrilla"/>
                <a:cs typeface="Guerrilla"/>
                <a:sym typeface="Guerrilla"/>
              </a:rPr>
              <a:t>MAINTAINING ACCURATE INVENTORY WHILE ALLOWING MULTIPLE OPERATIONS</a:t>
            </a:r>
          </a:p>
          <a:p>
            <a:pPr algn="l">
              <a:lnSpc>
                <a:spcPts val="2482"/>
              </a:lnSpc>
            </a:pPr>
          </a:p>
          <a:p>
            <a:pPr algn="l">
              <a:lnSpc>
                <a:spcPts val="2482"/>
              </a:lnSpc>
            </a:pPr>
            <a:r>
              <a:rPr lang="en-US" sz="2196">
                <a:solidFill>
                  <a:srgbClr val="FFFFFF"/>
                </a:solidFill>
                <a:latin typeface="Guerrilla"/>
                <a:ea typeface="Guerrilla"/>
                <a:cs typeface="Guerrilla"/>
                <a:sym typeface="Guerrilla"/>
              </a:rPr>
              <a:t>CHALLENGE:</a:t>
            </a:r>
          </a:p>
          <a:p>
            <a:pPr algn="l">
              <a:lnSpc>
                <a:spcPts val="2482"/>
              </a:lnSpc>
            </a:pPr>
            <a:r>
              <a:rPr lang="en-US" sz="2196">
                <a:solidFill>
                  <a:srgbClr val="FFFFFF"/>
                </a:solidFill>
                <a:latin typeface="Guerrilla"/>
                <a:ea typeface="Guerrilla"/>
                <a:cs typeface="Guerrilla"/>
                <a:sym typeface="Guerrilla"/>
              </a:rPr>
              <a:t> STOCK NUMBERS COULD EASILY BECOME INCONSISTENT WHEN EDITING, DELETING, ADJUSTING, OR SELLING PRODUCTS.</a:t>
            </a:r>
          </a:p>
          <a:p>
            <a:pPr algn="l">
              <a:lnSpc>
                <a:spcPts val="2482"/>
              </a:lnSpc>
            </a:pPr>
          </a:p>
          <a:p>
            <a:pPr algn="l">
              <a:lnSpc>
                <a:spcPts val="2482"/>
              </a:lnSpc>
            </a:pPr>
            <a:r>
              <a:rPr lang="en-US" sz="2196">
                <a:solidFill>
                  <a:srgbClr val="FFFFFF"/>
                </a:solidFill>
                <a:latin typeface="Guerrilla"/>
                <a:ea typeface="Guerrilla"/>
                <a:cs typeface="Guerrilla"/>
                <a:sym typeface="Guerrilla"/>
              </a:rPr>
              <a:t>SOLUTION:</a:t>
            </a:r>
          </a:p>
          <a:p>
            <a:pPr algn="l">
              <a:lnSpc>
                <a:spcPts val="2482"/>
              </a:lnSpc>
            </a:pPr>
            <a:r>
              <a:rPr lang="en-US" sz="2196">
                <a:solidFill>
                  <a:srgbClr val="FFFFFF"/>
                </a:solidFill>
                <a:latin typeface="Guerrilla"/>
                <a:ea typeface="Guerrilla"/>
                <a:cs typeface="Guerrilla"/>
                <a:sym typeface="Guerrilla"/>
              </a:rPr>
              <a:t> YOU ADDED:</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ARROW-KEY STOCK ADJUSTMENT</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LOW-STOCK DETECTION</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INPUT VALIDATION</a:t>
            </a:r>
          </a:p>
          <a:p>
            <a:pPr algn="l" marL="474218" indent="-237109" lvl="1">
              <a:lnSpc>
                <a:spcPts val="2482"/>
              </a:lnSpc>
              <a:buFont typeface="Arial"/>
              <a:buChar char="•"/>
            </a:pPr>
            <a:r>
              <a:rPr lang="en-US" sz="2196">
                <a:solidFill>
                  <a:srgbClr val="FFFFFF"/>
                </a:solidFill>
                <a:latin typeface="Guerrilla"/>
                <a:ea typeface="Guerrilla"/>
                <a:cs typeface="Guerrilla"/>
                <a:sym typeface="Guerrilla"/>
              </a:rPr>
              <a:t>AUTOMATIC SAVING AFTER EVERY CHANGE</a:t>
            </a:r>
          </a:p>
          <a:p>
            <a:pPr algn="l">
              <a:lnSpc>
                <a:spcPts val="2482"/>
              </a:lnSpc>
            </a:pPr>
            <a:r>
              <a:rPr lang="en-US" sz="2196">
                <a:solidFill>
                  <a:srgbClr val="FFFFFF"/>
                </a:solidFill>
                <a:latin typeface="Guerrilla"/>
                <a:ea typeface="Guerrilla"/>
                <a:cs typeface="Guerrilla"/>
                <a:sym typeface="Guerrilla"/>
              </a:rPr>
              <a:t>THIS ENSURED STOCK LEVELS REMAINED ACCURATE AT ALL TIMES.</a:t>
            </a:r>
          </a:p>
          <a:p>
            <a:pPr algn="l">
              <a:lnSpc>
                <a:spcPts val="2482"/>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708730" y="2213883"/>
            <a:ext cx="5742114" cy="1880750"/>
          </a:xfrm>
          <a:custGeom>
            <a:avLst/>
            <a:gdLst/>
            <a:ahLst/>
            <a:cxnLst/>
            <a:rect r="r" b="b" t="t" l="l"/>
            <a:pathLst>
              <a:path h="1880750" w="5742114">
                <a:moveTo>
                  <a:pt x="0" y="0"/>
                </a:moveTo>
                <a:lnTo>
                  <a:pt x="5742114" y="0"/>
                </a:lnTo>
                <a:lnTo>
                  <a:pt x="5742114" y="1880750"/>
                </a:lnTo>
                <a:lnTo>
                  <a:pt x="0" y="1880750"/>
                </a:lnTo>
                <a:lnTo>
                  <a:pt x="0" y="0"/>
                </a:lnTo>
                <a:close/>
              </a:path>
            </a:pathLst>
          </a:custGeom>
          <a:blipFill>
            <a:blip r:embed="rId3"/>
            <a:stretch>
              <a:fillRect l="0" t="0" r="0" b="0"/>
            </a:stretch>
          </a:blipFill>
        </p:spPr>
      </p:sp>
      <p:sp>
        <p:nvSpPr>
          <p:cNvPr name="Freeform 4" id="4"/>
          <p:cNvSpPr/>
          <p:nvPr/>
        </p:nvSpPr>
        <p:spPr>
          <a:xfrm flipH="false" flipV="false" rot="0">
            <a:off x="1708730" y="5636322"/>
            <a:ext cx="5742114" cy="3111053"/>
          </a:xfrm>
          <a:custGeom>
            <a:avLst/>
            <a:gdLst/>
            <a:ahLst/>
            <a:cxnLst/>
            <a:rect r="r" b="b" t="t" l="l"/>
            <a:pathLst>
              <a:path h="3111053" w="5742114">
                <a:moveTo>
                  <a:pt x="0" y="0"/>
                </a:moveTo>
                <a:lnTo>
                  <a:pt x="5742114" y="0"/>
                </a:lnTo>
                <a:lnTo>
                  <a:pt x="5742114" y="3111053"/>
                </a:lnTo>
                <a:lnTo>
                  <a:pt x="0" y="3111053"/>
                </a:lnTo>
                <a:lnTo>
                  <a:pt x="0" y="0"/>
                </a:lnTo>
                <a:close/>
              </a:path>
            </a:pathLst>
          </a:custGeom>
          <a:blipFill>
            <a:blip r:embed="rId4"/>
            <a:stretch>
              <a:fillRect l="0" t="0" r="0" b="0"/>
            </a:stretch>
          </a:blipFill>
        </p:spPr>
      </p:sp>
      <p:sp>
        <p:nvSpPr>
          <p:cNvPr name="Freeform 5" id="5"/>
          <p:cNvSpPr/>
          <p:nvPr/>
        </p:nvSpPr>
        <p:spPr>
          <a:xfrm flipH="false" flipV="false" rot="0">
            <a:off x="9954535" y="2213883"/>
            <a:ext cx="5621414" cy="2639475"/>
          </a:xfrm>
          <a:custGeom>
            <a:avLst/>
            <a:gdLst/>
            <a:ahLst/>
            <a:cxnLst/>
            <a:rect r="r" b="b" t="t" l="l"/>
            <a:pathLst>
              <a:path h="2639475" w="5621414">
                <a:moveTo>
                  <a:pt x="0" y="0"/>
                </a:moveTo>
                <a:lnTo>
                  <a:pt x="5621414" y="0"/>
                </a:lnTo>
                <a:lnTo>
                  <a:pt x="5621414" y="2639475"/>
                </a:lnTo>
                <a:lnTo>
                  <a:pt x="0" y="2639475"/>
                </a:lnTo>
                <a:lnTo>
                  <a:pt x="0" y="0"/>
                </a:lnTo>
                <a:close/>
              </a:path>
            </a:pathLst>
          </a:custGeom>
          <a:blipFill>
            <a:blip r:embed="rId5"/>
            <a:stretch>
              <a:fillRect l="0" t="0" r="0" b="0"/>
            </a:stretch>
          </a:blipFill>
        </p:spPr>
      </p:sp>
      <p:sp>
        <p:nvSpPr>
          <p:cNvPr name="Freeform 6" id="6"/>
          <p:cNvSpPr/>
          <p:nvPr/>
        </p:nvSpPr>
        <p:spPr>
          <a:xfrm flipH="false" flipV="false" rot="0">
            <a:off x="9954535" y="5636322"/>
            <a:ext cx="5621414" cy="2897190"/>
          </a:xfrm>
          <a:custGeom>
            <a:avLst/>
            <a:gdLst/>
            <a:ahLst/>
            <a:cxnLst/>
            <a:rect r="r" b="b" t="t" l="l"/>
            <a:pathLst>
              <a:path h="2897190" w="5621414">
                <a:moveTo>
                  <a:pt x="0" y="0"/>
                </a:moveTo>
                <a:lnTo>
                  <a:pt x="5621414" y="0"/>
                </a:lnTo>
                <a:lnTo>
                  <a:pt x="5621414" y="2897191"/>
                </a:lnTo>
                <a:lnTo>
                  <a:pt x="0" y="2897191"/>
                </a:lnTo>
                <a:lnTo>
                  <a:pt x="0" y="0"/>
                </a:lnTo>
                <a:close/>
              </a:path>
            </a:pathLst>
          </a:custGeom>
          <a:blipFill>
            <a:blip r:embed="rId6"/>
            <a:stretch>
              <a:fillRect l="0" t="0" r="0" b="0"/>
            </a:stretch>
          </a:blipFill>
        </p:spPr>
      </p:sp>
      <p:sp>
        <p:nvSpPr>
          <p:cNvPr name="TextBox 7" id="7"/>
          <p:cNvSpPr txBox="true"/>
          <p:nvPr/>
        </p:nvSpPr>
        <p:spPr>
          <a:xfrm rot="0">
            <a:off x="2303076" y="1076325"/>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TESTINGS &amp; RESULTS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303076" y="1076325"/>
            <a:ext cx="13681848"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FUTURE ENHANCEMENTS</a:t>
            </a:r>
          </a:p>
        </p:txBody>
      </p:sp>
      <p:sp>
        <p:nvSpPr>
          <p:cNvPr name="Freeform 4" id="4"/>
          <p:cNvSpPr/>
          <p:nvPr/>
        </p:nvSpPr>
        <p:spPr>
          <a:xfrm flipH="false" flipV="false" rot="0">
            <a:off x="1028700" y="546706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383965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2459893"/>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690529" y="3301756"/>
            <a:ext cx="4319028" cy="5465990"/>
          </a:xfrm>
          <a:custGeom>
            <a:avLst/>
            <a:gdLst/>
            <a:ahLst/>
            <a:cxnLst/>
            <a:rect r="r" b="b" t="t" l="l"/>
            <a:pathLst>
              <a:path h="5465990" w="4319028">
                <a:moveTo>
                  <a:pt x="0" y="0"/>
                </a:moveTo>
                <a:lnTo>
                  <a:pt x="4319028" y="0"/>
                </a:lnTo>
                <a:lnTo>
                  <a:pt x="4319028" y="5465990"/>
                </a:lnTo>
                <a:lnTo>
                  <a:pt x="0" y="54659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269055">
            <a:off x="14595493"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113795">
            <a:off x="10140539" y="2415186"/>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28700" y="7094472"/>
            <a:ext cx="5728967" cy="1135377"/>
          </a:xfrm>
          <a:custGeom>
            <a:avLst/>
            <a:gdLst/>
            <a:ahLst/>
            <a:cxnLst/>
            <a:rect r="r" b="b" t="t" l="l"/>
            <a:pathLst>
              <a:path h="1135377" w="5728967">
                <a:moveTo>
                  <a:pt x="0" y="0"/>
                </a:moveTo>
                <a:lnTo>
                  <a:pt x="5728967" y="0"/>
                </a:lnTo>
                <a:lnTo>
                  <a:pt x="5728967" y="1135377"/>
                </a:lnTo>
                <a:lnTo>
                  <a:pt x="0" y="11353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267033" y="2724174"/>
            <a:ext cx="4543481" cy="515404"/>
          </a:xfrm>
          <a:prstGeom prst="rect">
            <a:avLst/>
          </a:prstGeom>
        </p:spPr>
        <p:txBody>
          <a:bodyPr anchor="t" rtlCol="false" tIns="0" lIns="0" bIns="0" rIns="0">
            <a:spAutoFit/>
          </a:bodyPr>
          <a:lstStyle/>
          <a:p>
            <a:pPr algn="ctr">
              <a:lnSpc>
                <a:spcPts val="3786"/>
              </a:lnSpc>
              <a:spcBef>
                <a:spcPct val="0"/>
              </a:spcBef>
            </a:pPr>
            <a:r>
              <a:rPr lang="en-US" sz="3351">
                <a:solidFill>
                  <a:srgbClr val="082C37"/>
                </a:solidFill>
                <a:latin typeface="Tufuli Arabic"/>
                <a:ea typeface="Tufuli Arabic"/>
                <a:cs typeface="Tufuli Arabic"/>
                <a:sym typeface="Tufuli Arabic"/>
              </a:rPr>
              <a:t>GUI</a:t>
            </a:r>
          </a:p>
        </p:txBody>
      </p:sp>
      <p:sp>
        <p:nvSpPr>
          <p:cNvPr name="TextBox 12" id="12"/>
          <p:cNvSpPr txBox="true"/>
          <p:nvPr/>
        </p:nvSpPr>
        <p:spPr>
          <a:xfrm rot="0">
            <a:off x="1193835" y="3915580"/>
            <a:ext cx="4775634" cy="982163"/>
          </a:xfrm>
          <a:prstGeom prst="rect">
            <a:avLst/>
          </a:prstGeom>
        </p:spPr>
        <p:txBody>
          <a:bodyPr anchor="t" rtlCol="false" tIns="0" lIns="0" bIns="0" rIns="0">
            <a:spAutoFit/>
          </a:bodyPr>
          <a:lstStyle/>
          <a:p>
            <a:pPr algn="ctr">
              <a:lnSpc>
                <a:spcPts val="3714"/>
              </a:lnSpc>
              <a:spcBef>
                <a:spcPct val="0"/>
              </a:spcBef>
            </a:pPr>
            <a:r>
              <a:rPr lang="en-US" sz="3286">
                <a:solidFill>
                  <a:srgbClr val="082C37"/>
                </a:solidFill>
                <a:latin typeface="Tufuli Arabic"/>
                <a:ea typeface="Tufuli Arabic"/>
                <a:cs typeface="Tufuli Arabic"/>
                <a:sym typeface="Tufuli Arabic"/>
              </a:rPr>
              <a:t>BARCODE SCANNING SUPPORT</a:t>
            </a:r>
          </a:p>
        </p:txBody>
      </p:sp>
      <p:sp>
        <p:nvSpPr>
          <p:cNvPr name="TextBox 13" id="13"/>
          <p:cNvSpPr txBox="true"/>
          <p:nvPr/>
        </p:nvSpPr>
        <p:spPr>
          <a:xfrm rot="0">
            <a:off x="1522343" y="5553833"/>
            <a:ext cx="4032861" cy="942786"/>
          </a:xfrm>
          <a:prstGeom prst="rect">
            <a:avLst/>
          </a:prstGeom>
        </p:spPr>
        <p:txBody>
          <a:bodyPr anchor="t" rtlCol="false" tIns="0" lIns="0" bIns="0" rIns="0">
            <a:spAutoFit/>
          </a:bodyPr>
          <a:lstStyle/>
          <a:p>
            <a:pPr algn="ctr">
              <a:lnSpc>
                <a:spcPts val="3562"/>
              </a:lnSpc>
              <a:spcBef>
                <a:spcPct val="0"/>
              </a:spcBef>
            </a:pPr>
            <a:r>
              <a:rPr lang="en-US" sz="3152">
                <a:solidFill>
                  <a:srgbClr val="082C37"/>
                </a:solidFill>
                <a:latin typeface="Tufuli Arabic"/>
                <a:ea typeface="Tufuli Arabic"/>
                <a:cs typeface="Tufuli Arabic"/>
                <a:sym typeface="Tufuli Arabic"/>
              </a:rPr>
              <a:t>MULTIPLE BRACNH SUPPORT</a:t>
            </a:r>
          </a:p>
        </p:txBody>
      </p:sp>
      <p:sp>
        <p:nvSpPr>
          <p:cNvPr name="TextBox 14" id="14"/>
          <p:cNvSpPr txBox="true"/>
          <p:nvPr/>
        </p:nvSpPr>
        <p:spPr>
          <a:xfrm rot="0">
            <a:off x="1193835" y="7440640"/>
            <a:ext cx="4689878" cy="517772"/>
          </a:xfrm>
          <a:prstGeom prst="rect">
            <a:avLst/>
          </a:prstGeom>
        </p:spPr>
        <p:txBody>
          <a:bodyPr anchor="t" rtlCol="false" tIns="0" lIns="0" bIns="0" rIns="0">
            <a:spAutoFit/>
          </a:bodyPr>
          <a:lstStyle/>
          <a:p>
            <a:pPr algn="ctr">
              <a:lnSpc>
                <a:spcPts val="3733"/>
              </a:lnSpc>
              <a:spcBef>
                <a:spcPct val="0"/>
              </a:spcBef>
            </a:pPr>
            <a:r>
              <a:rPr lang="en-US" sz="3303">
                <a:solidFill>
                  <a:srgbClr val="082C37"/>
                </a:solidFill>
                <a:latin typeface="Tufuli Arabic"/>
                <a:ea typeface="Tufuli Arabic"/>
                <a:cs typeface="Tufuli Arabic"/>
                <a:sym typeface="Tufuli Arabic"/>
              </a:rPr>
              <a:t>PRODUCT IMAGES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5507228" y="1076325"/>
            <a:ext cx="11727735"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CONCLUSION</a:t>
            </a:r>
          </a:p>
        </p:txBody>
      </p:sp>
      <p:sp>
        <p:nvSpPr>
          <p:cNvPr name="Freeform 4" id="4"/>
          <p:cNvSpPr/>
          <p:nvPr/>
        </p:nvSpPr>
        <p:spPr>
          <a:xfrm flipH="false" flipV="false" rot="0">
            <a:off x="5507228" y="2609151"/>
            <a:ext cx="10978196" cy="6172021"/>
          </a:xfrm>
          <a:custGeom>
            <a:avLst/>
            <a:gdLst/>
            <a:ahLst/>
            <a:cxnLst/>
            <a:rect r="r" b="b" t="t" l="l"/>
            <a:pathLst>
              <a:path h="6172021" w="10978196">
                <a:moveTo>
                  <a:pt x="0" y="0"/>
                </a:moveTo>
                <a:lnTo>
                  <a:pt x="10978197" y="0"/>
                </a:lnTo>
                <a:lnTo>
                  <a:pt x="10978197" y="6172021"/>
                </a:lnTo>
                <a:lnTo>
                  <a:pt x="0" y="6172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394586">
            <a:off x="4656308" y="2852746"/>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700000">
            <a:off x="14731476" y="7840137"/>
            <a:ext cx="2606260" cy="857696"/>
          </a:xfrm>
          <a:custGeom>
            <a:avLst/>
            <a:gdLst/>
            <a:ahLst/>
            <a:cxnLst/>
            <a:rect r="r" b="b" t="t" l="l"/>
            <a:pathLst>
              <a:path h="857696" w="2606260">
                <a:moveTo>
                  <a:pt x="0" y="0"/>
                </a:moveTo>
                <a:lnTo>
                  <a:pt x="2606260" y="0"/>
                </a:lnTo>
                <a:lnTo>
                  <a:pt x="2606260" y="857696"/>
                </a:lnTo>
                <a:lnTo>
                  <a:pt x="0" y="8576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441443" y="3431874"/>
            <a:ext cx="9593163" cy="4746599"/>
          </a:xfrm>
          <a:prstGeom prst="rect">
            <a:avLst/>
          </a:prstGeom>
        </p:spPr>
        <p:txBody>
          <a:bodyPr anchor="t" rtlCol="false" tIns="0" lIns="0" bIns="0" rIns="0">
            <a:spAutoFit/>
          </a:bodyPr>
          <a:lstStyle/>
          <a:p>
            <a:pPr algn="ctr">
              <a:lnSpc>
                <a:spcPts val="4170"/>
              </a:lnSpc>
            </a:pPr>
            <a:r>
              <a:rPr lang="en-US" sz="3183">
                <a:solidFill>
                  <a:srgbClr val="082C37"/>
                </a:solidFill>
                <a:latin typeface="Tufuli Arabic"/>
                <a:ea typeface="Tufuli Arabic"/>
                <a:cs typeface="Tufuli Arabic"/>
                <a:sym typeface="Tufuli Arabic"/>
              </a:rPr>
              <a:t>The JB SNEAKERS &amp; APPARE</a:t>
            </a:r>
            <a:r>
              <a:rPr lang="en-US" sz="3183">
                <a:solidFill>
                  <a:srgbClr val="082C37"/>
                </a:solidFill>
                <a:latin typeface="Tufuli Arabic"/>
                <a:ea typeface="Tufuli Arabic"/>
                <a:cs typeface="Tufuli Arabic"/>
                <a:sym typeface="Tufuli Arabic"/>
              </a:rPr>
              <a:t>L POS System successfully achieved its goal of providing a functional console-based inventory and sales management solution. Through features such as admin login, product management, dynamic categories, arrow-key navigation, and automatic invoice and receipt generation, the system provides reliable support for small retail operations.</a:t>
            </a:r>
          </a:p>
        </p:txBody>
      </p:sp>
      <p:sp>
        <p:nvSpPr>
          <p:cNvPr name="Freeform 8" id="8"/>
          <p:cNvSpPr/>
          <p:nvPr/>
        </p:nvSpPr>
        <p:spPr>
          <a:xfrm flipH="false" flipV="false" rot="0">
            <a:off x="757455" y="5582432"/>
            <a:ext cx="4434840" cy="4114800"/>
          </a:xfrm>
          <a:custGeom>
            <a:avLst/>
            <a:gdLst/>
            <a:ahLst/>
            <a:cxnLst/>
            <a:rect r="r" b="b" t="t" l="l"/>
            <a:pathLst>
              <a:path h="4114800" w="4434840">
                <a:moveTo>
                  <a:pt x="0" y="0"/>
                </a:moveTo>
                <a:lnTo>
                  <a:pt x="4434840" y="0"/>
                </a:lnTo>
                <a:lnTo>
                  <a:pt x="44348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4305664">
            <a:off x="1932527" y="3350919"/>
            <a:ext cx="1590083" cy="1909488"/>
          </a:xfrm>
          <a:custGeom>
            <a:avLst/>
            <a:gdLst/>
            <a:ahLst/>
            <a:cxnLst/>
            <a:rect r="r" b="b" t="t" l="l"/>
            <a:pathLst>
              <a:path h="1909488" w="1590083">
                <a:moveTo>
                  <a:pt x="0" y="0"/>
                </a:moveTo>
                <a:lnTo>
                  <a:pt x="1590083" y="0"/>
                </a:lnTo>
                <a:lnTo>
                  <a:pt x="1590083" y="1909489"/>
                </a:lnTo>
                <a:lnTo>
                  <a:pt x="0" y="19094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2636915">
            <a:off x="2476382" y="1188398"/>
            <a:ext cx="1521309" cy="1826900"/>
          </a:xfrm>
          <a:custGeom>
            <a:avLst/>
            <a:gdLst/>
            <a:ahLst/>
            <a:cxnLst/>
            <a:rect r="r" b="b" t="t" l="l"/>
            <a:pathLst>
              <a:path h="1826900" w="1521309">
                <a:moveTo>
                  <a:pt x="0" y="0"/>
                </a:moveTo>
                <a:lnTo>
                  <a:pt x="1521309" y="0"/>
                </a:lnTo>
                <a:lnTo>
                  <a:pt x="1521309" y="1826900"/>
                </a:lnTo>
                <a:lnTo>
                  <a:pt x="0" y="18269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5507228" y="1076325"/>
            <a:ext cx="11727735" cy="935141"/>
          </a:xfrm>
          <a:prstGeom prst="rect">
            <a:avLst/>
          </a:prstGeom>
        </p:spPr>
        <p:txBody>
          <a:bodyPr anchor="t" rtlCol="false" tIns="0" lIns="0" bIns="0" rIns="0">
            <a:spAutoFit/>
          </a:bodyPr>
          <a:lstStyle/>
          <a:p>
            <a:pPr algn="ctr">
              <a:lnSpc>
                <a:spcPts val="7290"/>
              </a:lnSpc>
            </a:pPr>
            <a:r>
              <a:rPr lang="en-US" sz="6451">
                <a:solidFill>
                  <a:srgbClr val="FFFFFF"/>
                </a:solidFill>
                <a:latin typeface="Guerrilla"/>
                <a:ea typeface="Guerrilla"/>
                <a:cs typeface="Guerrilla"/>
                <a:sym typeface="Guerrilla"/>
              </a:rPr>
              <a:t>CONCLUSION</a:t>
            </a:r>
          </a:p>
        </p:txBody>
      </p:sp>
      <p:sp>
        <p:nvSpPr>
          <p:cNvPr name="Freeform 4" id="4"/>
          <p:cNvSpPr/>
          <p:nvPr/>
        </p:nvSpPr>
        <p:spPr>
          <a:xfrm flipH="false" flipV="false" rot="0">
            <a:off x="5507228" y="2609151"/>
            <a:ext cx="10978196" cy="6172021"/>
          </a:xfrm>
          <a:custGeom>
            <a:avLst/>
            <a:gdLst/>
            <a:ahLst/>
            <a:cxnLst/>
            <a:rect r="r" b="b" t="t" l="l"/>
            <a:pathLst>
              <a:path h="6172021" w="10978196">
                <a:moveTo>
                  <a:pt x="0" y="0"/>
                </a:moveTo>
                <a:lnTo>
                  <a:pt x="10978197" y="0"/>
                </a:lnTo>
                <a:lnTo>
                  <a:pt x="10978197" y="6172021"/>
                </a:lnTo>
                <a:lnTo>
                  <a:pt x="0" y="61720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394586">
            <a:off x="4656308" y="2852746"/>
            <a:ext cx="2606260" cy="857696"/>
          </a:xfrm>
          <a:custGeom>
            <a:avLst/>
            <a:gdLst/>
            <a:ahLst/>
            <a:cxnLst/>
            <a:rect r="r" b="b" t="t" l="l"/>
            <a:pathLst>
              <a:path h="857696" w="2606260">
                <a:moveTo>
                  <a:pt x="0" y="0"/>
                </a:moveTo>
                <a:lnTo>
                  <a:pt x="2606260" y="0"/>
                </a:lnTo>
                <a:lnTo>
                  <a:pt x="2606260" y="857697"/>
                </a:lnTo>
                <a:lnTo>
                  <a:pt x="0" y="857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2700000">
            <a:off x="14731476" y="7840137"/>
            <a:ext cx="2606260" cy="857696"/>
          </a:xfrm>
          <a:custGeom>
            <a:avLst/>
            <a:gdLst/>
            <a:ahLst/>
            <a:cxnLst/>
            <a:rect r="r" b="b" t="t" l="l"/>
            <a:pathLst>
              <a:path h="857696" w="2606260">
                <a:moveTo>
                  <a:pt x="0" y="0"/>
                </a:moveTo>
                <a:lnTo>
                  <a:pt x="2606260" y="0"/>
                </a:lnTo>
                <a:lnTo>
                  <a:pt x="2606260" y="857696"/>
                </a:lnTo>
                <a:lnTo>
                  <a:pt x="0" y="8576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6441443" y="3431874"/>
            <a:ext cx="9593163" cy="4746599"/>
          </a:xfrm>
          <a:prstGeom prst="rect">
            <a:avLst/>
          </a:prstGeom>
        </p:spPr>
        <p:txBody>
          <a:bodyPr anchor="t" rtlCol="false" tIns="0" lIns="0" bIns="0" rIns="0">
            <a:spAutoFit/>
          </a:bodyPr>
          <a:lstStyle/>
          <a:p>
            <a:pPr algn="ctr">
              <a:lnSpc>
                <a:spcPts val="4170"/>
              </a:lnSpc>
            </a:pPr>
            <a:r>
              <a:rPr lang="en-US" sz="3183">
                <a:solidFill>
                  <a:srgbClr val="082C37"/>
                </a:solidFill>
                <a:latin typeface="Tufuli Arabic"/>
                <a:ea typeface="Tufuli Arabic"/>
                <a:cs typeface="Tufuli Arabic"/>
                <a:sym typeface="Tufuli Arabic"/>
              </a:rPr>
              <a:t>The project demon</a:t>
            </a:r>
            <a:r>
              <a:rPr lang="en-US" sz="3183">
                <a:solidFill>
                  <a:srgbClr val="082C37"/>
                </a:solidFill>
                <a:latin typeface="Tufuli Arabic"/>
                <a:ea typeface="Tufuli Arabic"/>
                <a:cs typeface="Tufuli Arabic"/>
                <a:sym typeface="Tufuli Arabic"/>
              </a:rPr>
              <a:t>strated effective use of C#, object-oriented programming, and file handling to simulate real POS workflows. Despite being a console application, it delivers an organized and user-friendly experience. Overall, the development of this system strengthened skills in system design, data management, and creating practical business solutions using programming.</a:t>
            </a:r>
          </a:p>
        </p:txBody>
      </p:sp>
      <p:sp>
        <p:nvSpPr>
          <p:cNvPr name="Freeform 8" id="8"/>
          <p:cNvSpPr/>
          <p:nvPr/>
        </p:nvSpPr>
        <p:spPr>
          <a:xfrm flipH="false" flipV="false" rot="0">
            <a:off x="757455" y="5582432"/>
            <a:ext cx="4434840" cy="4114800"/>
          </a:xfrm>
          <a:custGeom>
            <a:avLst/>
            <a:gdLst/>
            <a:ahLst/>
            <a:cxnLst/>
            <a:rect r="r" b="b" t="t" l="l"/>
            <a:pathLst>
              <a:path h="4114800" w="4434840">
                <a:moveTo>
                  <a:pt x="0" y="0"/>
                </a:moveTo>
                <a:lnTo>
                  <a:pt x="4434840" y="0"/>
                </a:lnTo>
                <a:lnTo>
                  <a:pt x="443484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4305664">
            <a:off x="1932527" y="3350919"/>
            <a:ext cx="1590083" cy="1909488"/>
          </a:xfrm>
          <a:custGeom>
            <a:avLst/>
            <a:gdLst/>
            <a:ahLst/>
            <a:cxnLst/>
            <a:rect r="r" b="b" t="t" l="l"/>
            <a:pathLst>
              <a:path h="1909488" w="1590083">
                <a:moveTo>
                  <a:pt x="0" y="0"/>
                </a:moveTo>
                <a:lnTo>
                  <a:pt x="1590083" y="0"/>
                </a:lnTo>
                <a:lnTo>
                  <a:pt x="1590083" y="1909489"/>
                </a:lnTo>
                <a:lnTo>
                  <a:pt x="0" y="19094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2636915">
            <a:off x="2476382" y="1188398"/>
            <a:ext cx="1521309" cy="1826900"/>
          </a:xfrm>
          <a:custGeom>
            <a:avLst/>
            <a:gdLst/>
            <a:ahLst/>
            <a:cxnLst/>
            <a:rect r="r" b="b" t="t" l="l"/>
            <a:pathLst>
              <a:path h="1826900" w="1521309">
                <a:moveTo>
                  <a:pt x="0" y="0"/>
                </a:moveTo>
                <a:lnTo>
                  <a:pt x="1521309" y="0"/>
                </a:lnTo>
                <a:lnTo>
                  <a:pt x="1521309" y="1826900"/>
                </a:lnTo>
                <a:lnTo>
                  <a:pt x="0" y="18269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3586358" y="798560"/>
            <a:ext cx="6528238" cy="9230157"/>
          </a:xfrm>
          <a:custGeom>
            <a:avLst/>
            <a:gdLst/>
            <a:ahLst/>
            <a:cxnLst/>
            <a:rect r="r" b="b" t="t" l="l"/>
            <a:pathLst>
              <a:path h="9230157" w="6528238">
                <a:moveTo>
                  <a:pt x="0" y="0"/>
                </a:moveTo>
                <a:lnTo>
                  <a:pt x="6528239" y="0"/>
                </a:lnTo>
                <a:lnTo>
                  <a:pt x="6528239" y="9230157"/>
                </a:lnTo>
                <a:lnTo>
                  <a:pt x="0" y="9230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069901" y="3463437"/>
            <a:ext cx="7561154" cy="3986128"/>
          </a:xfrm>
          <a:prstGeom prst="rect">
            <a:avLst/>
          </a:prstGeom>
        </p:spPr>
        <p:txBody>
          <a:bodyPr anchor="t" rtlCol="false" tIns="0" lIns="0" bIns="0" rIns="0">
            <a:spAutoFit/>
          </a:bodyPr>
          <a:lstStyle/>
          <a:p>
            <a:pPr algn="ctr">
              <a:lnSpc>
                <a:spcPts val="15556"/>
              </a:lnSpc>
            </a:pPr>
            <a:r>
              <a:rPr lang="en-US" sz="13766">
                <a:solidFill>
                  <a:srgbClr val="0D4B5D"/>
                </a:solidFill>
                <a:latin typeface="Guerrilla"/>
                <a:ea typeface="Guerrilla"/>
                <a:cs typeface="Guerrilla"/>
                <a:sym typeface="Guerrilla"/>
              </a:rPr>
              <a:t>THANK</a:t>
            </a:r>
          </a:p>
          <a:p>
            <a:pPr algn="ctr">
              <a:lnSpc>
                <a:spcPts val="15556"/>
              </a:lnSpc>
            </a:pPr>
            <a:r>
              <a:rPr lang="en-US" sz="13766">
                <a:solidFill>
                  <a:srgbClr val="0D4B5D"/>
                </a:solidFill>
                <a:latin typeface="Guerrilla"/>
                <a:ea typeface="Guerrilla"/>
                <a:cs typeface="Guerrilla"/>
                <a:sym typeface="Guerrilla"/>
              </a:rPr>
              <a:t>YOU</a:t>
            </a:r>
          </a:p>
        </p:txBody>
      </p:sp>
      <p:sp>
        <p:nvSpPr>
          <p:cNvPr name="Freeform 5" id="5"/>
          <p:cNvSpPr/>
          <p:nvPr/>
        </p:nvSpPr>
        <p:spPr>
          <a:xfrm flipH="false" flipV="false" rot="179105">
            <a:off x="5431386" y="1682509"/>
            <a:ext cx="2838183" cy="934020"/>
          </a:xfrm>
          <a:custGeom>
            <a:avLst/>
            <a:gdLst/>
            <a:ahLst/>
            <a:cxnLst/>
            <a:rect r="r" b="b" t="t" l="l"/>
            <a:pathLst>
              <a:path h="934020" w="2838183">
                <a:moveTo>
                  <a:pt x="0" y="0"/>
                </a:moveTo>
                <a:lnTo>
                  <a:pt x="2838183" y="0"/>
                </a:lnTo>
                <a:lnTo>
                  <a:pt x="2838183" y="934020"/>
                </a:lnTo>
                <a:lnTo>
                  <a:pt x="0" y="9340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620877">
            <a:off x="12339379" y="4303635"/>
            <a:ext cx="5066740" cy="4536500"/>
          </a:xfrm>
          <a:custGeom>
            <a:avLst/>
            <a:gdLst/>
            <a:ahLst/>
            <a:cxnLst/>
            <a:rect r="r" b="b" t="t" l="l"/>
            <a:pathLst>
              <a:path h="4536500" w="5066740">
                <a:moveTo>
                  <a:pt x="0" y="0"/>
                </a:moveTo>
                <a:lnTo>
                  <a:pt x="5066740" y="0"/>
                </a:lnTo>
                <a:lnTo>
                  <a:pt x="5066740" y="4536500"/>
                </a:lnTo>
                <a:lnTo>
                  <a:pt x="0" y="45365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2562526">
            <a:off x="14385199" y="1109767"/>
            <a:ext cx="2319863" cy="2255977"/>
          </a:xfrm>
          <a:custGeom>
            <a:avLst/>
            <a:gdLst/>
            <a:ahLst/>
            <a:cxnLst/>
            <a:rect r="r" b="b" t="t" l="l"/>
            <a:pathLst>
              <a:path h="2255977" w="2319863">
                <a:moveTo>
                  <a:pt x="0" y="0"/>
                </a:moveTo>
                <a:lnTo>
                  <a:pt x="2319862" y="0"/>
                </a:lnTo>
                <a:lnTo>
                  <a:pt x="2319862" y="2255977"/>
                </a:lnTo>
                <a:lnTo>
                  <a:pt x="0" y="2255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273213">
            <a:off x="645033" y="996482"/>
            <a:ext cx="2356202" cy="2291315"/>
          </a:xfrm>
          <a:custGeom>
            <a:avLst/>
            <a:gdLst/>
            <a:ahLst/>
            <a:cxnLst/>
            <a:rect r="r" b="b" t="t" l="l"/>
            <a:pathLst>
              <a:path h="2291315" w="2356202">
                <a:moveTo>
                  <a:pt x="0" y="0"/>
                </a:moveTo>
                <a:lnTo>
                  <a:pt x="2356202" y="0"/>
                </a:lnTo>
                <a:lnTo>
                  <a:pt x="2356202" y="2291315"/>
                </a:lnTo>
                <a:lnTo>
                  <a:pt x="0" y="22913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10064142">
            <a:off x="7379153" y="8550771"/>
            <a:ext cx="2296957" cy="2233702"/>
          </a:xfrm>
          <a:custGeom>
            <a:avLst/>
            <a:gdLst/>
            <a:ahLst/>
            <a:cxnLst/>
            <a:rect r="r" b="b" t="t" l="l"/>
            <a:pathLst>
              <a:path h="2233702" w="2296957">
                <a:moveTo>
                  <a:pt x="0" y="0"/>
                </a:moveTo>
                <a:lnTo>
                  <a:pt x="2296958" y="0"/>
                </a:lnTo>
                <a:lnTo>
                  <a:pt x="2296958" y="2233702"/>
                </a:lnTo>
                <a:lnTo>
                  <a:pt x="0" y="22337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2099757">
            <a:off x="9276708" y="245984"/>
            <a:ext cx="1380413" cy="1657701"/>
          </a:xfrm>
          <a:custGeom>
            <a:avLst/>
            <a:gdLst/>
            <a:ahLst/>
            <a:cxnLst/>
            <a:rect r="r" b="b" t="t" l="l"/>
            <a:pathLst>
              <a:path h="1657701" w="1380413">
                <a:moveTo>
                  <a:pt x="0" y="0"/>
                </a:moveTo>
                <a:lnTo>
                  <a:pt x="1380414" y="0"/>
                </a:lnTo>
                <a:lnTo>
                  <a:pt x="1380414" y="1657701"/>
                </a:lnTo>
                <a:lnTo>
                  <a:pt x="0" y="16577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10433720">
            <a:off x="944534" y="8395109"/>
            <a:ext cx="1262076" cy="1515593"/>
          </a:xfrm>
          <a:custGeom>
            <a:avLst/>
            <a:gdLst/>
            <a:ahLst/>
            <a:cxnLst/>
            <a:rect r="r" b="b" t="t" l="l"/>
            <a:pathLst>
              <a:path h="1515593" w="1262076">
                <a:moveTo>
                  <a:pt x="0" y="0"/>
                </a:moveTo>
                <a:lnTo>
                  <a:pt x="1262075" y="0"/>
                </a:lnTo>
                <a:lnTo>
                  <a:pt x="1262075" y="1515593"/>
                </a:lnTo>
                <a:lnTo>
                  <a:pt x="0" y="151559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4811591">
            <a:off x="16477864" y="8597831"/>
            <a:ext cx="1099981" cy="1320938"/>
          </a:xfrm>
          <a:custGeom>
            <a:avLst/>
            <a:gdLst/>
            <a:ahLst/>
            <a:cxnLst/>
            <a:rect r="r" b="b" t="t" l="l"/>
            <a:pathLst>
              <a:path h="1320938" w="1099981">
                <a:moveTo>
                  <a:pt x="0" y="0"/>
                </a:moveTo>
                <a:lnTo>
                  <a:pt x="1099981" y="0"/>
                </a:lnTo>
                <a:lnTo>
                  <a:pt x="1099981" y="1320938"/>
                </a:lnTo>
                <a:lnTo>
                  <a:pt x="0" y="13209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DAG6_JqZ4Fg</dc:identifier>
  <dcterms:modified xsi:type="dcterms:W3CDTF">2011-08-01T06:04:30Z</dcterms:modified>
  <cp:revision>1</cp:revision>
  <dc:title>C# Console Application for File Handling</dc:title>
</cp:coreProperties>
</file>